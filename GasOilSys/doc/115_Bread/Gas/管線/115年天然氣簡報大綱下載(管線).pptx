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6" r:id="rId2"/>
    <p:sldMasterId id="2147483698" r:id="rId3"/>
  </p:sldMasterIdLst>
  <p:notesMasterIdLst>
    <p:notesMasterId r:id="rId31"/>
  </p:notesMasterIdLst>
  <p:sldIdLst>
    <p:sldId id="256" r:id="rId4"/>
    <p:sldId id="257" r:id="rId5"/>
    <p:sldId id="260" r:id="rId6"/>
    <p:sldId id="266" r:id="rId7"/>
    <p:sldId id="274" r:id="rId8"/>
    <p:sldId id="288" r:id="rId9"/>
    <p:sldId id="289" r:id="rId10"/>
    <p:sldId id="300" r:id="rId11"/>
    <p:sldId id="292" r:id="rId12"/>
    <p:sldId id="294" r:id="rId13"/>
    <p:sldId id="301" r:id="rId14"/>
    <p:sldId id="295" r:id="rId15"/>
    <p:sldId id="304" r:id="rId16"/>
    <p:sldId id="303" r:id="rId17"/>
    <p:sldId id="296" r:id="rId18"/>
    <p:sldId id="306" r:id="rId19"/>
    <p:sldId id="307" r:id="rId20"/>
    <p:sldId id="286" r:id="rId21"/>
    <p:sldId id="264" r:id="rId22"/>
    <p:sldId id="272" r:id="rId23"/>
    <p:sldId id="302" r:id="rId24"/>
    <p:sldId id="271" r:id="rId25"/>
    <p:sldId id="297" r:id="rId26"/>
    <p:sldId id="298" r:id="rId27"/>
    <p:sldId id="287" r:id="rId28"/>
    <p:sldId id="283" r:id="rId29"/>
    <p:sldId id="299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林素玉" initials="林素玉" lastIdx="1" clrIdx="0">
    <p:extLst>
      <p:ext uri="{19B8F6BF-5375-455C-9EA6-DF929625EA0E}">
        <p15:presenceInfo xmlns:p15="http://schemas.microsoft.com/office/powerpoint/2012/main" userId="S-1-5-21-3886091937-3993499380-1032164792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9EDF4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4" autoAdjust="0"/>
    <p:restoredTop sz="94660"/>
  </p:normalViewPr>
  <p:slideViewPr>
    <p:cSldViewPr snapToGrid="0">
      <p:cViewPr varScale="1">
        <p:scale>
          <a:sx n="65" d="100"/>
          <a:sy n="65" d="100"/>
        </p:scale>
        <p:origin x="5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16T12:10:15.070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16T12:10:15.070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BF107-88D2-417F-9E8B-3CB10EE9FA2B}" type="datetimeFigureOut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A8F085-B358-4A7A-B571-10C2C19215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5729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3E272-7BF2-448E-B800-ECAAD6012F84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96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0D72-8461-4D6D-9B84-A84C6075FA9D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0233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4C1EE-6356-4335-BD9A-71AC608E3252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562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19C70-D141-4C8B-9D5A-41DE5375F3AC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6833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D5D3-AE72-4757-AD49-489637925C1A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5188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3329-F897-4D8B-A7FA-9A6A7DE403C5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3672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AAF3E-7D0A-4061-A0F3-FEDA4539784E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64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B30C-DF00-4B0C-B5C9-81294B8D2046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461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2C2EA-4B90-4675-BBDA-BA8B9FF7B587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725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B6810-904B-4B71-95DE-09DCEA147B63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517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3B576-7F9F-436B-9869-F4A0303B967F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20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55740"/>
            <a:ext cx="10552581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C9A3-665E-4B0A-80AB-E48DBD9681A4}" type="datetime1">
              <a:rPr lang="zh-TW" altLang="en-US" smtClean="0"/>
              <a:t>2026/1/28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9104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B17EB-315C-401D-8CFA-75F132AA2D09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2635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D4BD-5911-4206-9728-26999B00D54B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827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1936B-5C24-42FC-B314-07937951F656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54980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E1E1F-BC28-44E2-8610-84DEB727786C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900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B71F-BD97-4F93-A642-71D6BDD3B528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42489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622B-38A5-4CCB-9C12-04288B1307E6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99475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FA813-D13D-4FCE-AACF-3EFAAB24913F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96640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BCB9-97C7-460D-B052-E46259849DDB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367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CCE0B-85B5-4E18-AC81-DBD5D6AFA6EE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11175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F927-3EC4-490A-9046-8E0C24AB9B35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26182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71804-ADE3-467E-BF16-D0BEA9E4EE30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1232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21589"/>
            <a:ext cx="10552581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6D8B6-013C-4939-B6A3-52015ACC45F1}" type="datetime1">
              <a:rPr lang="zh-TW" altLang="en-US" smtClean="0"/>
              <a:t>2026/1/28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9159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B76FC-AB7F-45B5-8610-D5116A9CEC8D}" type="datetime1">
              <a:rPr lang="zh-TW" altLang="en-US" smtClean="0"/>
              <a:t>2026/1/28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84290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6D395-DCB9-48D3-A7DE-CF2784C081FB}" type="datetime1">
              <a:rPr lang="zh-TW" altLang="en-US" smtClean="0"/>
              <a:t>2026/1/28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11377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8A883-3E27-4173-B06C-5D6875A4034D}" type="datetime1">
              <a:rPr lang="zh-TW" altLang="en-US" smtClean="0"/>
              <a:t>2026/1/28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87264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C89A9-DAAE-43B8-95E5-5AD834ADB5B4}" type="datetime1">
              <a:rPr lang="zh-TW" altLang="en-US" smtClean="0"/>
              <a:t>2026/1/28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534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41B5F-0592-4B84-92F0-A8C79EE58742}" type="datetime1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654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3069A-39C2-49DF-9A6C-EF022EC4F4F3}" type="datetime1">
              <a:rPr lang="zh-TW" altLang="en-US" smtClean="0"/>
              <a:t>2026/1/28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406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3109" y="521589"/>
            <a:ext cx="6145783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5166" y="3176778"/>
            <a:ext cx="1104646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84C26-AD15-4968-9333-9C97A26E992E}" type="datetime1">
              <a:rPr lang="zh-TW" altLang="en-US" smtClean="0"/>
              <a:t>2026/1/28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619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 anchor="t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</a:t>
            </a:r>
            <a: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</a:t>
            </a:r>
            <a:b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天然氣生產進口事業輸儲設備查核</a:t>
            </a:r>
            <a:b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天然氣事業部○○供氣中心、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通霄轉輸中心、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探採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事業部 天然氣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處理廠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、採油工程處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667000" y="4433311"/>
            <a:ext cx="6858000" cy="1655762"/>
          </a:xfrm>
        </p:spPr>
        <p:txBody>
          <a:bodyPr/>
          <a:lstStyle/>
          <a:p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報告人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○○○</a:t>
            </a: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115/xx/xx</a:t>
            </a:r>
            <a:endParaRPr lang="zh-TW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760649" y="36844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附件</a:t>
            </a:r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07D3B80-F145-4E4C-A5FA-34FE6571A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8314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大綱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壹、事業單位之基本資料</a:t>
            </a:r>
          </a:p>
          <a:p>
            <a:pPr marL="0" indent="0">
              <a:buNone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貳、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管線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管理</a:t>
            </a:r>
          </a:p>
          <a:p>
            <a:pPr marL="0" indent="0">
              <a:buNone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參、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控制室管理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肆、災害防救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伍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事故學習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陸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自主管理落實度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柒、</a:t>
            </a:r>
            <a:r>
              <a:rPr lang="zh-TW" altLang="en-US" spc="5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歷年查核建議之尚未改善完成說明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373E8A-8530-46C4-A351-4336F593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038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壹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、事業單位之基本資料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ea"/>
              <a:buAutoNum type="ea1ChtPeriod"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製程單元或輸儲流程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9191E3-F827-465D-ACF3-539A3B782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18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579115"/>
            <a:ext cx="10515600" cy="2026285"/>
          </a:xfrm>
        </p:spPr>
        <p:txBody>
          <a:bodyPr>
            <a:normAutofit fontScale="70000" lnSpcReduction="20000"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天然氣管</a:t>
            </a:r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線基本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</a:t>
            </a:r>
            <a:r>
              <a:rPr lang="zh-TW" altLang="en-US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料</a:t>
            </a:r>
            <a:endParaRPr lang="en-US" altLang="zh-TW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管線方塊示意圖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請加入閥箱位置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1430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管線路徑圖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請參考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NCDR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公開資訊，與天然災害潛勢圖套疊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，如有影響請填寫下表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168400" lvl="1" indent="0">
              <a:lnSpc>
                <a:spcPct val="150000"/>
              </a:lnSpc>
              <a:buNone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套疊型態至少包含：活動斷層敏感區域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地滑及山崩的地質敏感區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、土壤液化區、土石流潛勢區、淹水潛勢區等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請列表如下，若經套疊後確認無此型態，請於備註欄填寫「無」</a:t>
            </a:r>
            <a:endParaRPr lang="en-US" altLang="zh-TW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</a:t>
            </a:fld>
            <a:endParaRPr lang="zh-TW" altLang="en-US" dirty="0"/>
          </a:p>
        </p:txBody>
      </p:sp>
      <p:sp>
        <p:nvSpPr>
          <p:cNvPr id="6" name="object 2"/>
          <p:cNvSpPr txBox="1">
            <a:spLocks/>
          </p:cNvSpPr>
          <p:nvPr/>
        </p:nvSpPr>
        <p:spPr>
          <a:xfrm>
            <a:off x="2152650" y="723208"/>
            <a:ext cx="7886700" cy="60939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marL="12700"/>
            <a:r>
              <a:rPr lang="zh-TW" altLang="en-US" spc="-10" dirty="0"/>
              <a:t>貳、管線管理</a:t>
            </a:r>
            <a:endParaRPr lang="zh-TW" altLang="en-US" spc="1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8F09543-D1EB-4D26-B9B1-8179CF605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390827"/>
              </p:ext>
            </p:extLst>
          </p:nvPr>
        </p:nvGraphicFramePr>
        <p:xfrm>
          <a:off x="1465580" y="3862070"/>
          <a:ext cx="926084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4018">
                  <a:extLst>
                    <a:ext uri="{9D8B030D-6E8A-4147-A177-3AD203B41FA5}">
                      <a16:colId xmlns:a16="http://schemas.microsoft.com/office/drawing/2014/main" val="1507164014"/>
                    </a:ext>
                  </a:extLst>
                </a:gridCol>
                <a:gridCol w="2344882">
                  <a:extLst>
                    <a:ext uri="{9D8B030D-6E8A-4147-A177-3AD203B41FA5}">
                      <a16:colId xmlns:a16="http://schemas.microsoft.com/office/drawing/2014/main" val="2146195938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3695256061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4009706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天然災害潛勢</a:t>
                      </a: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型態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如：斷層、土壤液化</a:t>
                      </a: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…)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影響管線編號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加強作為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42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活動斷層敏感區域</a:t>
                      </a:r>
                      <a:endParaRPr lang="zh-TW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805010XXXX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183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sz="18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地滑及山崩的地質敏感區</a:t>
                      </a:r>
                      <a:endParaRPr lang="zh-TW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31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土壤液化區</a:t>
                      </a:r>
                      <a:endParaRPr lang="zh-TW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1860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土石流潛勢區</a:t>
                      </a:r>
                      <a:endParaRPr lang="zh-TW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如：無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629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淹水潛勢區</a:t>
                      </a:r>
                      <a:endParaRPr lang="zh-TW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如：無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723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966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5</a:t>
            </a:fld>
            <a:endParaRPr lang="zh-TW" altLang="en-US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109871A3-88F2-4A53-8AF8-35CC85D763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6374" y="663835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貳、管線管理</a:t>
            </a:r>
            <a:endParaRPr sz="4000" spc="-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9BDB9C-4B48-465A-8929-323259245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608" y="1374120"/>
            <a:ext cx="8210550" cy="129288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17550" lvl="1" indent="-260350">
              <a:spcBef>
                <a:spcPts val="60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風險評估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所有管線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895350" lvl="1" indent="0">
              <a:spcBef>
                <a:spcPts val="600"/>
              </a:spcBef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評估結果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6A52CBF-E37D-4F00-B4F8-9D9E1191D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28347"/>
              </p:ext>
            </p:extLst>
          </p:nvPr>
        </p:nvGraphicFramePr>
        <p:xfrm>
          <a:off x="2345475" y="2667000"/>
          <a:ext cx="786305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042">
                  <a:extLst>
                    <a:ext uri="{9D8B030D-6E8A-4147-A177-3AD203B41FA5}">
                      <a16:colId xmlns:a16="http://schemas.microsoft.com/office/drawing/2014/main" val="397855011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685265338"/>
                    </a:ext>
                  </a:extLst>
                </a:gridCol>
                <a:gridCol w="1382220">
                  <a:extLst>
                    <a:ext uri="{9D8B030D-6E8A-4147-A177-3AD203B41FA5}">
                      <a16:colId xmlns:a16="http://schemas.microsoft.com/office/drawing/2014/main" val="2462298306"/>
                    </a:ext>
                  </a:extLst>
                </a:gridCol>
                <a:gridCol w="1153620">
                  <a:extLst>
                    <a:ext uri="{9D8B030D-6E8A-4147-A177-3AD203B41FA5}">
                      <a16:colId xmlns:a16="http://schemas.microsoft.com/office/drawing/2014/main" val="969281977"/>
                    </a:ext>
                  </a:extLst>
                </a:gridCol>
                <a:gridCol w="1153620">
                  <a:extLst>
                    <a:ext uri="{9D8B030D-6E8A-4147-A177-3AD203B41FA5}">
                      <a16:colId xmlns:a16="http://schemas.microsoft.com/office/drawing/2014/main" val="2008436781"/>
                    </a:ext>
                  </a:extLst>
                </a:gridCol>
                <a:gridCol w="1047749">
                  <a:extLst>
                    <a:ext uri="{9D8B030D-6E8A-4147-A177-3AD203B41FA5}">
                      <a16:colId xmlns:a16="http://schemas.microsoft.com/office/drawing/2014/main" val="3850264439"/>
                    </a:ext>
                  </a:extLst>
                </a:gridCol>
              </a:tblGrid>
              <a:tr h="3326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已評估完成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管段總數量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低風險管段數量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中風險管段數量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高風險管段數量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12904"/>
                  </a:ext>
                </a:extLst>
              </a:tr>
              <a:tr h="192559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378405"/>
                  </a:ext>
                </a:extLst>
              </a:tr>
            </a:tbl>
          </a:graphicData>
        </a:graphic>
      </p:graphicFrame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45CE4EB8-8B90-4E0F-A26C-DC936FE4FF37}"/>
              </a:ext>
            </a:extLst>
          </p:cNvPr>
          <p:cNvSpPr txBox="1">
            <a:spLocks/>
          </p:cNvSpPr>
          <p:nvPr/>
        </p:nvSpPr>
        <p:spPr>
          <a:xfrm>
            <a:off x="2895600" y="3741909"/>
            <a:ext cx="3952875" cy="5845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514350" indent="-5143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ea"/>
              <a:buAutoNum type="ea1ChtPeriod"/>
              <a:defRPr sz="2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lvl="7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未完成評估數量及規劃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8900" lvl="7" indent="0">
              <a:lnSpc>
                <a:spcPct val="150000"/>
              </a:lnSpc>
              <a:buNone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8F72431C-0A14-40DD-8134-A564DA438967}"/>
              </a:ext>
            </a:extLst>
          </p:cNvPr>
          <p:cNvSpPr txBox="1">
            <a:spLocks/>
          </p:cNvSpPr>
          <p:nvPr/>
        </p:nvSpPr>
        <p:spPr>
          <a:xfrm>
            <a:off x="2895599" y="4195993"/>
            <a:ext cx="3952875" cy="5845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514350" indent="-5143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ea"/>
              <a:buAutoNum type="ea1ChtPeriod"/>
              <a:defRPr sz="2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lvl="7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中、高風險管段緩降措施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DD06BDBB-28E4-424A-B01B-BD62CB4DB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764514"/>
              </p:ext>
            </p:extLst>
          </p:nvPr>
        </p:nvGraphicFramePr>
        <p:xfrm>
          <a:off x="2366352" y="4798839"/>
          <a:ext cx="8530248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693">
                  <a:extLst>
                    <a:ext uri="{9D8B030D-6E8A-4147-A177-3AD203B41FA5}">
                      <a16:colId xmlns:a16="http://schemas.microsoft.com/office/drawing/2014/main" val="3978550119"/>
                    </a:ext>
                  </a:extLst>
                </a:gridCol>
                <a:gridCol w="2035565">
                  <a:extLst>
                    <a:ext uri="{9D8B030D-6E8A-4147-A177-3AD203B41FA5}">
                      <a16:colId xmlns:a16="http://schemas.microsoft.com/office/drawing/2014/main" val="1685265338"/>
                    </a:ext>
                  </a:extLst>
                </a:gridCol>
                <a:gridCol w="1942058">
                  <a:extLst>
                    <a:ext uri="{9D8B030D-6E8A-4147-A177-3AD203B41FA5}">
                      <a16:colId xmlns:a16="http://schemas.microsoft.com/office/drawing/2014/main" val="3903992862"/>
                    </a:ext>
                  </a:extLst>
                </a:gridCol>
                <a:gridCol w="1942058">
                  <a:extLst>
                    <a:ext uri="{9D8B030D-6E8A-4147-A177-3AD203B41FA5}">
                      <a16:colId xmlns:a16="http://schemas.microsoft.com/office/drawing/2014/main" val="2462298306"/>
                    </a:ext>
                  </a:extLst>
                </a:gridCol>
                <a:gridCol w="877874">
                  <a:extLst>
                    <a:ext uri="{9D8B030D-6E8A-4147-A177-3AD203B41FA5}">
                      <a16:colId xmlns:a16="http://schemas.microsoft.com/office/drawing/2014/main" val="3850264439"/>
                    </a:ext>
                  </a:extLst>
                </a:gridCol>
              </a:tblGrid>
              <a:tr h="49214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管線識別碼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中、高風險管段位置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造成高風險之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主要因子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緩降措施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12904"/>
                  </a:ext>
                </a:extLst>
              </a:tr>
              <a:tr h="29096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8050101XXXX1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378405"/>
                  </a:ext>
                </a:extLst>
              </a:tr>
              <a:tr h="2909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8050101XXXX2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032854"/>
                  </a:ext>
                </a:extLst>
              </a:tr>
              <a:tr h="2909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8050101XXXX3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376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73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7264" y="450195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09801" y="1066800"/>
            <a:ext cx="7611649" cy="990600"/>
          </a:xfrm>
        </p:spPr>
        <p:txBody>
          <a:bodyPr>
            <a:normAutofit/>
          </a:bodyPr>
          <a:lstStyle/>
          <a:p>
            <a:pPr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6450" lvl="1" indent="-349250">
              <a:spcBef>
                <a:spcPts val="1200"/>
              </a:spcBef>
              <a:buFont typeface="+mj-lt"/>
              <a:buAutoNum type="arabicPeriod" startAt="2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管線完整性評估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轄區每條管線皆須列出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6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06FD2AA-DB1B-422A-9248-1C37A5039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393131"/>
              </p:ext>
            </p:extLst>
          </p:nvPr>
        </p:nvGraphicFramePr>
        <p:xfrm>
          <a:off x="2209800" y="2151962"/>
          <a:ext cx="7965360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3978550119"/>
                    </a:ext>
                  </a:extLst>
                </a:gridCol>
                <a:gridCol w="1560379">
                  <a:extLst>
                    <a:ext uri="{9D8B030D-6E8A-4147-A177-3AD203B41FA5}">
                      <a16:colId xmlns:a16="http://schemas.microsoft.com/office/drawing/2014/main" val="1685265338"/>
                    </a:ext>
                  </a:extLst>
                </a:gridCol>
                <a:gridCol w="1594301">
                  <a:extLst>
                    <a:ext uri="{9D8B030D-6E8A-4147-A177-3AD203B41FA5}">
                      <a16:colId xmlns:a16="http://schemas.microsoft.com/office/drawing/2014/main" val="2462298306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99960784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850264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管線識別碼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ILI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預估日期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民國年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強度測試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壓力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1.25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倍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預估日期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民國年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ECDA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預估日期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民國年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12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8050101XXXX1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範例：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111/03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37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8050101XXXX2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範例：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111/03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032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8050101XXXX3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範例：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111/03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376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706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348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72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429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599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貳、管線管理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525626"/>
            <a:ext cx="7886700" cy="144617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+mj-ea"/>
              <a:buAutoNum type="ea1ChtPeriod" startAt="2"/>
            </a:pPr>
            <a:r>
              <a:rPr lang="zh-TW" altLang="zh-TW" sz="2400" spc="-5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Font typeface="+mj-lt"/>
              <a:buAutoNum type="arabicPeriod" startAt="3"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檢測追蹤執行情況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2" indent="0">
              <a:spcBef>
                <a:spcPts val="600"/>
              </a:spcBef>
              <a:buNone/>
            </a:pPr>
            <a:r>
              <a:rPr lang="en-US" altLang="zh-TW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異常統計表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7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79148" y="5585628"/>
            <a:ext cx="6033703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異常點原因分析</a:t>
            </a:r>
            <a:endParaRPr lang="en-US" altLang="zh-TW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(3) </a:t>
            </a:r>
            <a:r>
              <a:rPr lang="zh-TW" altLang="en-US" b="1" spc="-5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異常點尚未改善完成之規劃說明，及相對應的加強作為</a:t>
            </a:r>
            <a:endParaRPr lang="en-US" altLang="zh-TW" b="1" spc="-5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046113A-EC2D-49E4-8C53-5B5AA1567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445930"/>
              </p:ext>
            </p:extLst>
          </p:nvPr>
        </p:nvGraphicFramePr>
        <p:xfrm>
          <a:off x="520890" y="2779068"/>
          <a:ext cx="11395878" cy="2536204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133971">
                  <a:extLst>
                    <a:ext uri="{9D8B030D-6E8A-4147-A177-3AD203B41FA5}">
                      <a16:colId xmlns:a16="http://schemas.microsoft.com/office/drawing/2014/main" val="2075771783"/>
                    </a:ext>
                  </a:extLst>
                </a:gridCol>
                <a:gridCol w="443125">
                  <a:extLst>
                    <a:ext uri="{9D8B030D-6E8A-4147-A177-3AD203B41FA5}">
                      <a16:colId xmlns:a16="http://schemas.microsoft.com/office/drawing/2014/main" val="662857452"/>
                    </a:ext>
                  </a:extLst>
                </a:gridCol>
                <a:gridCol w="564352">
                  <a:extLst>
                    <a:ext uri="{9D8B030D-6E8A-4147-A177-3AD203B41FA5}">
                      <a16:colId xmlns:a16="http://schemas.microsoft.com/office/drawing/2014/main" val="118332061"/>
                    </a:ext>
                  </a:extLst>
                </a:gridCol>
                <a:gridCol w="449569">
                  <a:extLst>
                    <a:ext uri="{9D8B030D-6E8A-4147-A177-3AD203B41FA5}">
                      <a16:colId xmlns:a16="http://schemas.microsoft.com/office/drawing/2014/main" val="2735467087"/>
                    </a:ext>
                  </a:extLst>
                </a:gridCol>
                <a:gridCol w="401743">
                  <a:extLst>
                    <a:ext uri="{9D8B030D-6E8A-4147-A177-3AD203B41FA5}">
                      <a16:colId xmlns:a16="http://schemas.microsoft.com/office/drawing/2014/main" val="902292947"/>
                    </a:ext>
                  </a:extLst>
                </a:gridCol>
                <a:gridCol w="248697">
                  <a:extLst>
                    <a:ext uri="{9D8B030D-6E8A-4147-A177-3AD203B41FA5}">
                      <a16:colId xmlns:a16="http://schemas.microsoft.com/office/drawing/2014/main" val="3553550980"/>
                    </a:ext>
                  </a:extLst>
                </a:gridCol>
                <a:gridCol w="388534">
                  <a:extLst>
                    <a:ext uri="{9D8B030D-6E8A-4147-A177-3AD203B41FA5}">
                      <a16:colId xmlns:a16="http://schemas.microsoft.com/office/drawing/2014/main" val="28591479"/>
                    </a:ext>
                  </a:extLst>
                </a:gridCol>
                <a:gridCol w="233212">
                  <a:extLst>
                    <a:ext uri="{9D8B030D-6E8A-4147-A177-3AD203B41FA5}">
                      <a16:colId xmlns:a16="http://schemas.microsoft.com/office/drawing/2014/main" val="2897539864"/>
                    </a:ext>
                  </a:extLst>
                </a:gridCol>
                <a:gridCol w="394006">
                  <a:extLst>
                    <a:ext uri="{9D8B030D-6E8A-4147-A177-3AD203B41FA5}">
                      <a16:colId xmlns:a16="http://schemas.microsoft.com/office/drawing/2014/main" val="324269345"/>
                    </a:ext>
                  </a:extLst>
                </a:gridCol>
                <a:gridCol w="256434">
                  <a:extLst>
                    <a:ext uri="{9D8B030D-6E8A-4147-A177-3AD203B41FA5}">
                      <a16:colId xmlns:a16="http://schemas.microsoft.com/office/drawing/2014/main" val="2851588527"/>
                    </a:ext>
                  </a:extLst>
                </a:gridCol>
                <a:gridCol w="371587">
                  <a:extLst>
                    <a:ext uri="{9D8B030D-6E8A-4147-A177-3AD203B41FA5}">
                      <a16:colId xmlns:a16="http://schemas.microsoft.com/office/drawing/2014/main" val="4117485428"/>
                    </a:ext>
                  </a:extLst>
                </a:gridCol>
                <a:gridCol w="250158">
                  <a:extLst>
                    <a:ext uri="{9D8B030D-6E8A-4147-A177-3AD203B41FA5}">
                      <a16:colId xmlns:a16="http://schemas.microsoft.com/office/drawing/2014/main" val="2275322054"/>
                    </a:ext>
                  </a:extLst>
                </a:gridCol>
                <a:gridCol w="377059">
                  <a:extLst>
                    <a:ext uri="{9D8B030D-6E8A-4147-A177-3AD203B41FA5}">
                      <a16:colId xmlns:a16="http://schemas.microsoft.com/office/drawing/2014/main" val="3800979750"/>
                    </a:ext>
                  </a:extLst>
                </a:gridCol>
                <a:gridCol w="235119">
                  <a:extLst>
                    <a:ext uri="{9D8B030D-6E8A-4147-A177-3AD203B41FA5}">
                      <a16:colId xmlns:a16="http://schemas.microsoft.com/office/drawing/2014/main" val="3088943753"/>
                    </a:ext>
                  </a:extLst>
                </a:gridCol>
                <a:gridCol w="392902">
                  <a:extLst>
                    <a:ext uri="{9D8B030D-6E8A-4147-A177-3AD203B41FA5}">
                      <a16:colId xmlns:a16="http://schemas.microsoft.com/office/drawing/2014/main" val="1360043500"/>
                    </a:ext>
                  </a:extLst>
                </a:gridCol>
                <a:gridCol w="291957">
                  <a:extLst>
                    <a:ext uri="{9D8B030D-6E8A-4147-A177-3AD203B41FA5}">
                      <a16:colId xmlns:a16="http://schemas.microsoft.com/office/drawing/2014/main" val="1351901446"/>
                    </a:ext>
                  </a:extLst>
                </a:gridCol>
                <a:gridCol w="388265">
                  <a:extLst>
                    <a:ext uri="{9D8B030D-6E8A-4147-A177-3AD203B41FA5}">
                      <a16:colId xmlns:a16="http://schemas.microsoft.com/office/drawing/2014/main" val="2620890868"/>
                    </a:ext>
                  </a:extLst>
                </a:gridCol>
                <a:gridCol w="350150">
                  <a:extLst>
                    <a:ext uri="{9D8B030D-6E8A-4147-A177-3AD203B41FA5}">
                      <a16:colId xmlns:a16="http://schemas.microsoft.com/office/drawing/2014/main" val="2048013035"/>
                    </a:ext>
                  </a:extLst>
                </a:gridCol>
                <a:gridCol w="375003">
                  <a:extLst>
                    <a:ext uri="{9D8B030D-6E8A-4147-A177-3AD203B41FA5}">
                      <a16:colId xmlns:a16="http://schemas.microsoft.com/office/drawing/2014/main" val="2008008067"/>
                    </a:ext>
                  </a:extLst>
                </a:gridCol>
                <a:gridCol w="568220">
                  <a:extLst>
                    <a:ext uri="{9D8B030D-6E8A-4147-A177-3AD203B41FA5}">
                      <a16:colId xmlns:a16="http://schemas.microsoft.com/office/drawing/2014/main" val="1356746092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1327484355"/>
                    </a:ext>
                  </a:extLst>
                </a:gridCol>
                <a:gridCol w="584461">
                  <a:extLst>
                    <a:ext uri="{9D8B030D-6E8A-4147-A177-3AD203B41FA5}">
                      <a16:colId xmlns:a16="http://schemas.microsoft.com/office/drawing/2014/main" val="837787993"/>
                    </a:ext>
                  </a:extLst>
                </a:gridCol>
                <a:gridCol w="537421">
                  <a:extLst>
                    <a:ext uri="{9D8B030D-6E8A-4147-A177-3AD203B41FA5}">
                      <a16:colId xmlns:a16="http://schemas.microsoft.com/office/drawing/2014/main" val="4085277663"/>
                    </a:ext>
                  </a:extLst>
                </a:gridCol>
                <a:gridCol w="414687">
                  <a:extLst>
                    <a:ext uri="{9D8B030D-6E8A-4147-A177-3AD203B41FA5}">
                      <a16:colId xmlns:a16="http://schemas.microsoft.com/office/drawing/2014/main" val="976377882"/>
                    </a:ext>
                  </a:extLst>
                </a:gridCol>
                <a:gridCol w="530655">
                  <a:extLst>
                    <a:ext uri="{9D8B030D-6E8A-4147-A177-3AD203B41FA5}">
                      <a16:colId xmlns:a16="http://schemas.microsoft.com/office/drawing/2014/main" val="570576512"/>
                    </a:ext>
                  </a:extLst>
                </a:gridCol>
                <a:gridCol w="382613">
                  <a:extLst>
                    <a:ext uri="{9D8B030D-6E8A-4147-A177-3AD203B41FA5}">
                      <a16:colId xmlns:a16="http://schemas.microsoft.com/office/drawing/2014/main" val="2846538476"/>
                    </a:ext>
                  </a:extLst>
                </a:gridCol>
                <a:gridCol w="492613">
                  <a:extLst>
                    <a:ext uri="{9D8B030D-6E8A-4147-A177-3AD203B41FA5}">
                      <a16:colId xmlns:a16="http://schemas.microsoft.com/office/drawing/2014/main" val="3329032066"/>
                    </a:ext>
                  </a:extLst>
                </a:gridCol>
              </a:tblGrid>
              <a:tr h="109241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sz="1100" kern="0" dirty="0"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國土資訊系統管線編號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方法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最近一次執行年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報告產出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檢測長度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公里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30%-40%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40%-50%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以上數量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Dent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外部腐蝕保護電位</a:t>
                      </a:r>
                      <a:r>
                        <a:rPr lang="zh-TW" sz="1100" ker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不</a:t>
                      </a: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符合標準要求數量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附件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40%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以上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含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異常點尚未改善完成之座標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562388"/>
                  </a:ext>
                </a:extLst>
              </a:tr>
              <a:tr h="942437">
                <a:tc vMerge="1">
                  <a:txBody>
                    <a:bodyPr/>
                    <a:lstStyle/>
                    <a:p>
                      <a:pPr algn="ctr"/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5725" algn="l"/>
                        </a:tabLs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UT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85725" algn="l"/>
                        </a:tabLs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MFL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altLang="en-US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&gt;12%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TW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座標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TW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座標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腐蝕深度</a:t>
                      </a: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(%)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縣</a:t>
                      </a: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市</a:t>
                      </a: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所在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950247"/>
                  </a:ext>
                </a:extLst>
              </a:tr>
              <a:tr h="5013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範例：</a:t>
                      </a:r>
                      <a:endParaRPr lang="en-US" altLang="zh-TW" sz="11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8050101XXXXX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MFL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110/09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111/09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1234567.123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123456.123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台北市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33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554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壹、管線管理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525626"/>
            <a:ext cx="7886700" cy="144617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+mj-ea"/>
              <a:buAutoNum type="ea1ChtPeriod" startAt="2"/>
            </a:pPr>
            <a:r>
              <a:rPr lang="zh-TW" altLang="zh-TW" sz="2400" spc="-5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Font typeface="+mj-lt"/>
              <a:buAutoNum type="arabicPeriod" startAt="3"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檢測差異分析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同一條管線完成兩次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US" altLang="zh-TW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兩次檢測異常統計表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8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B405073-9114-4638-8861-466A172CA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605280"/>
              </p:ext>
            </p:extLst>
          </p:nvPr>
        </p:nvGraphicFramePr>
        <p:xfrm>
          <a:off x="1981200" y="2733645"/>
          <a:ext cx="8534397" cy="2787670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086909">
                  <a:extLst>
                    <a:ext uri="{9D8B030D-6E8A-4147-A177-3AD203B41FA5}">
                      <a16:colId xmlns:a16="http://schemas.microsoft.com/office/drawing/2014/main" val="2589748125"/>
                    </a:ext>
                  </a:extLst>
                </a:gridCol>
                <a:gridCol w="544226">
                  <a:extLst>
                    <a:ext uri="{9D8B030D-6E8A-4147-A177-3AD203B41FA5}">
                      <a16:colId xmlns:a16="http://schemas.microsoft.com/office/drawing/2014/main" val="78566327"/>
                    </a:ext>
                  </a:extLst>
                </a:gridCol>
                <a:gridCol w="502465">
                  <a:extLst>
                    <a:ext uri="{9D8B030D-6E8A-4147-A177-3AD203B41FA5}">
                      <a16:colId xmlns:a16="http://schemas.microsoft.com/office/drawing/2014/main" val="941620487"/>
                    </a:ext>
                  </a:extLst>
                </a:gridCol>
                <a:gridCol w="392775">
                  <a:extLst>
                    <a:ext uri="{9D8B030D-6E8A-4147-A177-3AD203B41FA5}">
                      <a16:colId xmlns:a16="http://schemas.microsoft.com/office/drawing/2014/main" val="2733641014"/>
                    </a:ext>
                  </a:extLst>
                </a:gridCol>
                <a:gridCol w="351014">
                  <a:extLst>
                    <a:ext uri="{9D8B030D-6E8A-4147-A177-3AD203B41FA5}">
                      <a16:colId xmlns:a16="http://schemas.microsoft.com/office/drawing/2014/main" val="4001517999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42571871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286916729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719000132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1630338817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379379474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924077387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4098654568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1147062952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61657943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532793612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443048101"/>
                    </a:ext>
                  </a:extLst>
                </a:gridCol>
                <a:gridCol w="351014">
                  <a:extLst>
                    <a:ext uri="{9D8B030D-6E8A-4147-A177-3AD203B41FA5}">
                      <a16:colId xmlns:a16="http://schemas.microsoft.com/office/drawing/2014/main" val="1231084634"/>
                    </a:ext>
                  </a:extLst>
                </a:gridCol>
                <a:gridCol w="351014">
                  <a:extLst>
                    <a:ext uri="{9D8B030D-6E8A-4147-A177-3AD203B41FA5}">
                      <a16:colId xmlns:a16="http://schemas.microsoft.com/office/drawing/2014/main" val="1832984042"/>
                    </a:ext>
                  </a:extLst>
                </a:gridCol>
                <a:gridCol w="335618">
                  <a:extLst>
                    <a:ext uri="{9D8B030D-6E8A-4147-A177-3AD203B41FA5}">
                      <a16:colId xmlns:a16="http://schemas.microsoft.com/office/drawing/2014/main" val="90831212"/>
                    </a:ext>
                  </a:extLst>
                </a:gridCol>
                <a:gridCol w="654302">
                  <a:extLst>
                    <a:ext uri="{9D8B030D-6E8A-4147-A177-3AD203B41FA5}">
                      <a16:colId xmlns:a16="http://schemas.microsoft.com/office/drawing/2014/main" val="1395603494"/>
                    </a:ext>
                  </a:extLst>
                </a:gridCol>
                <a:gridCol w="654302">
                  <a:extLst>
                    <a:ext uri="{9D8B030D-6E8A-4147-A177-3AD203B41FA5}">
                      <a16:colId xmlns:a16="http://schemas.microsoft.com/office/drawing/2014/main" val="670499223"/>
                    </a:ext>
                  </a:extLst>
                </a:gridCol>
              </a:tblGrid>
              <a:tr h="478921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國土資訊系統管線編號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endParaRPr lang="en-US" altLang="zh-TW" sz="12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方法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執行年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報告產出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檢測長度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公里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30%-40%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40%-50%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以上</a:t>
                      </a:r>
                      <a:endParaRPr lang="en-US" altLang="zh-TW" sz="12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Dent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差異分析</a:t>
                      </a:r>
                      <a:endParaRPr lang="zh-TW" sz="10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395964"/>
                  </a:ext>
                </a:extLst>
              </a:tr>
              <a:tr h="16145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85725" algn="l"/>
                        </a:tabLs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&gt;12%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459864"/>
                  </a:ext>
                </a:extLst>
              </a:tr>
              <a:tr h="64037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UT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MFL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139435"/>
                  </a:ext>
                </a:extLst>
              </a:tr>
              <a:tr h="42691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範例：</a:t>
                      </a:r>
                      <a:endParaRPr lang="en-US" altLang="zh-TW" sz="11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8070101XXXX1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MFL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111/03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111/05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2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6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1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4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3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2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8137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1151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3015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181400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79148" y="5585628"/>
            <a:ext cx="281102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不一致數量及比例分析</a:t>
            </a:r>
            <a:endParaRPr lang="en-US" altLang="zh-TW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(3) 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後續作為</a:t>
            </a:r>
            <a:endParaRPr lang="en-US" altLang="zh-TW" b="1" spc="-5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932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49" y="1525626"/>
            <a:ext cx="7637928" cy="312257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47675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 CIPS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檢測追蹤執行情況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異常點統計表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9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63F089-2D3B-43B1-9B23-82826E144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876796"/>
              </p:ext>
            </p:extLst>
          </p:nvPr>
        </p:nvGraphicFramePr>
        <p:xfrm>
          <a:off x="2519082" y="2971563"/>
          <a:ext cx="7637928" cy="1454590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941626">
                  <a:extLst>
                    <a:ext uri="{9D8B030D-6E8A-4147-A177-3AD203B41FA5}">
                      <a16:colId xmlns:a16="http://schemas.microsoft.com/office/drawing/2014/main" val="4183593799"/>
                    </a:ext>
                  </a:extLst>
                </a:gridCol>
                <a:gridCol w="564841">
                  <a:extLst>
                    <a:ext uri="{9D8B030D-6E8A-4147-A177-3AD203B41FA5}">
                      <a16:colId xmlns:a16="http://schemas.microsoft.com/office/drawing/2014/main" val="1395861552"/>
                    </a:ext>
                  </a:extLst>
                </a:gridCol>
                <a:gridCol w="565506">
                  <a:extLst>
                    <a:ext uri="{9D8B030D-6E8A-4147-A177-3AD203B41FA5}">
                      <a16:colId xmlns:a16="http://schemas.microsoft.com/office/drawing/2014/main" val="1210132923"/>
                    </a:ext>
                  </a:extLst>
                </a:gridCol>
                <a:gridCol w="564841">
                  <a:extLst>
                    <a:ext uri="{9D8B030D-6E8A-4147-A177-3AD203B41FA5}">
                      <a16:colId xmlns:a16="http://schemas.microsoft.com/office/drawing/2014/main" val="2391024736"/>
                    </a:ext>
                  </a:extLst>
                </a:gridCol>
                <a:gridCol w="565506">
                  <a:extLst>
                    <a:ext uri="{9D8B030D-6E8A-4147-A177-3AD203B41FA5}">
                      <a16:colId xmlns:a16="http://schemas.microsoft.com/office/drawing/2014/main" val="4147556822"/>
                    </a:ext>
                  </a:extLst>
                </a:gridCol>
                <a:gridCol w="564841">
                  <a:extLst>
                    <a:ext uri="{9D8B030D-6E8A-4147-A177-3AD203B41FA5}">
                      <a16:colId xmlns:a16="http://schemas.microsoft.com/office/drawing/2014/main" val="1429059625"/>
                    </a:ext>
                  </a:extLst>
                </a:gridCol>
                <a:gridCol w="470479">
                  <a:extLst>
                    <a:ext uri="{9D8B030D-6E8A-4147-A177-3AD203B41FA5}">
                      <a16:colId xmlns:a16="http://schemas.microsoft.com/office/drawing/2014/main" val="225621037"/>
                    </a:ext>
                  </a:extLst>
                </a:gridCol>
                <a:gridCol w="470479">
                  <a:extLst>
                    <a:ext uri="{9D8B030D-6E8A-4147-A177-3AD203B41FA5}">
                      <a16:colId xmlns:a16="http://schemas.microsoft.com/office/drawing/2014/main" val="1116699324"/>
                    </a:ext>
                  </a:extLst>
                </a:gridCol>
                <a:gridCol w="470479">
                  <a:extLst>
                    <a:ext uri="{9D8B030D-6E8A-4147-A177-3AD203B41FA5}">
                      <a16:colId xmlns:a16="http://schemas.microsoft.com/office/drawing/2014/main" val="1106962147"/>
                    </a:ext>
                  </a:extLst>
                </a:gridCol>
                <a:gridCol w="606043">
                  <a:extLst>
                    <a:ext uri="{9D8B030D-6E8A-4147-A177-3AD203B41FA5}">
                      <a16:colId xmlns:a16="http://schemas.microsoft.com/office/drawing/2014/main" val="4032662100"/>
                    </a:ext>
                  </a:extLst>
                </a:gridCol>
                <a:gridCol w="606043">
                  <a:extLst>
                    <a:ext uri="{9D8B030D-6E8A-4147-A177-3AD203B41FA5}">
                      <a16:colId xmlns:a16="http://schemas.microsoft.com/office/drawing/2014/main" val="2058388023"/>
                    </a:ext>
                  </a:extLst>
                </a:gridCol>
                <a:gridCol w="286409">
                  <a:extLst>
                    <a:ext uri="{9D8B030D-6E8A-4147-A177-3AD203B41FA5}">
                      <a16:colId xmlns:a16="http://schemas.microsoft.com/office/drawing/2014/main" val="2218312435"/>
                    </a:ext>
                  </a:extLst>
                </a:gridCol>
                <a:gridCol w="287074">
                  <a:extLst>
                    <a:ext uri="{9D8B030D-6E8A-4147-A177-3AD203B41FA5}">
                      <a16:colId xmlns:a16="http://schemas.microsoft.com/office/drawing/2014/main" val="1408393579"/>
                    </a:ext>
                  </a:extLst>
                </a:gridCol>
                <a:gridCol w="224587">
                  <a:extLst>
                    <a:ext uri="{9D8B030D-6E8A-4147-A177-3AD203B41FA5}">
                      <a16:colId xmlns:a16="http://schemas.microsoft.com/office/drawing/2014/main" val="803830609"/>
                    </a:ext>
                  </a:extLst>
                </a:gridCol>
                <a:gridCol w="224587">
                  <a:extLst>
                    <a:ext uri="{9D8B030D-6E8A-4147-A177-3AD203B41FA5}">
                      <a16:colId xmlns:a16="http://schemas.microsoft.com/office/drawing/2014/main" val="225555414"/>
                    </a:ext>
                  </a:extLst>
                </a:gridCol>
                <a:gridCol w="224587">
                  <a:extLst>
                    <a:ext uri="{9D8B030D-6E8A-4147-A177-3AD203B41FA5}">
                      <a16:colId xmlns:a16="http://schemas.microsoft.com/office/drawing/2014/main" val="590331050"/>
                    </a:ext>
                  </a:extLst>
                </a:gridCol>
              </a:tblGrid>
              <a:tr h="42834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</a:t>
                      </a: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資訊系統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管線編號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同時檢測管線數量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折線圖產出</a:t>
                      </a:r>
                      <a:endParaRPr lang="en-US" altLang="zh-TW" sz="100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TW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複判日期</a:t>
                      </a:r>
                      <a:endParaRPr lang="zh-TW" altLang="zh-TW" sz="100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zh-TW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TW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zh-TW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alt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檢測長度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公里</a:t>
                      </a: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合格標準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請參照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填表說明</a:t>
                      </a: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(2)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立即改善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排程改善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需監控點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附件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異常點尚未改善完成之座標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175625"/>
                  </a:ext>
                </a:extLst>
              </a:tr>
              <a:tr h="42834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改善完成數量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改善完成數量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Y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級距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441762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816888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5851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84D691C-206C-473D-B97B-A7696DBC08F5}"/>
              </a:ext>
            </a:extLst>
          </p:cNvPr>
          <p:cNvSpPr/>
          <p:nvPr/>
        </p:nvSpPr>
        <p:spPr>
          <a:xfrm>
            <a:off x="2590801" y="4574558"/>
            <a:ext cx="6168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 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異常點尚未改善完成之規劃說明，及相對應的加強作為</a:t>
            </a:r>
            <a:endParaRPr lang="en-US" altLang="zh-TW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94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49" y="1525626"/>
            <a:ext cx="7637928" cy="129753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47675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5. 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陰極防蝕系統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異常整流站</a:t>
            </a:r>
            <a:r>
              <a:rPr lang="en-US" altLang="zh-TW" sz="18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8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無則免填</a:t>
            </a:r>
            <a:r>
              <a:rPr lang="en-US" altLang="zh-TW" sz="18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10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2CD543F-BBA0-43BC-A975-3B37CFC24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227101"/>
              </p:ext>
            </p:extLst>
          </p:nvPr>
        </p:nvGraphicFramePr>
        <p:xfrm>
          <a:off x="1371601" y="3147421"/>
          <a:ext cx="9829799" cy="2474336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346230">
                  <a:extLst>
                    <a:ext uri="{9D8B030D-6E8A-4147-A177-3AD203B41FA5}">
                      <a16:colId xmlns:a16="http://schemas.microsoft.com/office/drawing/2014/main" val="2036969452"/>
                    </a:ext>
                  </a:extLst>
                </a:gridCol>
                <a:gridCol w="1346230">
                  <a:extLst>
                    <a:ext uri="{9D8B030D-6E8A-4147-A177-3AD203B41FA5}">
                      <a16:colId xmlns:a16="http://schemas.microsoft.com/office/drawing/2014/main" val="2197951069"/>
                    </a:ext>
                  </a:extLst>
                </a:gridCol>
                <a:gridCol w="1430635">
                  <a:extLst>
                    <a:ext uri="{9D8B030D-6E8A-4147-A177-3AD203B41FA5}">
                      <a16:colId xmlns:a16="http://schemas.microsoft.com/office/drawing/2014/main" val="580576515"/>
                    </a:ext>
                  </a:extLst>
                </a:gridCol>
                <a:gridCol w="1430635">
                  <a:extLst>
                    <a:ext uri="{9D8B030D-6E8A-4147-A177-3AD203B41FA5}">
                      <a16:colId xmlns:a16="http://schemas.microsoft.com/office/drawing/2014/main" val="755372806"/>
                    </a:ext>
                  </a:extLst>
                </a:gridCol>
                <a:gridCol w="1644805">
                  <a:extLst>
                    <a:ext uri="{9D8B030D-6E8A-4147-A177-3AD203B41FA5}">
                      <a16:colId xmlns:a16="http://schemas.microsoft.com/office/drawing/2014/main" val="43788507"/>
                    </a:ext>
                  </a:extLst>
                </a:gridCol>
                <a:gridCol w="1315632">
                  <a:extLst>
                    <a:ext uri="{9D8B030D-6E8A-4147-A177-3AD203B41FA5}">
                      <a16:colId xmlns:a16="http://schemas.microsoft.com/office/drawing/2014/main" val="1779594569"/>
                    </a:ext>
                  </a:extLst>
                </a:gridCol>
                <a:gridCol w="1315632">
                  <a:extLst>
                    <a:ext uri="{9D8B030D-6E8A-4147-A177-3AD203B41FA5}">
                      <a16:colId xmlns:a16="http://schemas.microsoft.com/office/drawing/2014/main" val="2691750283"/>
                    </a:ext>
                  </a:extLst>
                </a:gridCol>
              </a:tblGrid>
              <a:tr h="9856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b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異常整流站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名稱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異常起始日期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異常狀況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整流站修復進度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公司報修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設計中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112395" indent="-147320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向地方主管機關提出申請中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修復中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影響國土資訊系統管線編號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預計完成日期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858255"/>
                  </a:ext>
                </a:extLst>
              </a:tr>
              <a:tr h="2618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35754"/>
                  </a:ext>
                </a:extLst>
              </a:tr>
              <a:tr h="2618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10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572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49" y="1525626"/>
            <a:ext cx="7637928" cy="312257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47675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6. 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附掛橋樑檢查執行情況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若無免填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檢查方法、檢查頻率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11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63F089-2D3B-43B1-9B23-82826E144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587639"/>
              </p:ext>
            </p:extLst>
          </p:nvPr>
        </p:nvGraphicFramePr>
        <p:xfrm>
          <a:off x="2519082" y="2971563"/>
          <a:ext cx="6243918" cy="1396878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357208">
                  <a:extLst>
                    <a:ext uri="{9D8B030D-6E8A-4147-A177-3AD203B41FA5}">
                      <a16:colId xmlns:a16="http://schemas.microsoft.com/office/drawing/2014/main" val="4183593799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1395861552"/>
                    </a:ext>
                  </a:extLst>
                </a:gridCol>
                <a:gridCol w="815091">
                  <a:extLst>
                    <a:ext uri="{9D8B030D-6E8A-4147-A177-3AD203B41FA5}">
                      <a16:colId xmlns:a16="http://schemas.microsoft.com/office/drawing/2014/main" val="1210132923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2391024736"/>
                    </a:ext>
                  </a:extLst>
                </a:gridCol>
                <a:gridCol w="815091">
                  <a:extLst>
                    <a:ext uri="{9D8B030D-6E8A-4147-A177-3AD203B41FA5}">
                      <a16:colId xmlns:a16="http://schemas.microsoft.com/office/drawing/2014/main" val="4147556822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1429059625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1639567870"/>
                    </a:ext>
                  </a:extLst>
                </a:gridCol>
              </a:tblGrid>
              <a:tr h="8566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</a:t>
                      </a: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資訊系統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管線編號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橋梁名稱</a:t>
                      </a:r>
                      <a:endParaRPr lang="zh-TW" sz="100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長度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附掛方式、位置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檢測頻率</a:t>
                      </a:r>
                      <a:endParaRPr lang="zh-TW" alt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方法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檢測結果</a:t>
                      </a:r>
                      <a:endParaRPr lang="zh-TW" sz="100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175625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816888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5851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84D691C-206C-473D-B97B-A7696DBC08F5}"/>
              </a:ext>
            </a:extLst>
          </p:cNvPr>
          <p:cNvSpPr/>
          <p:nvPr/>
        </p:nvSpPr>
        <p:spPr>
          <a:xfrm>
            <a:off x="2590800" y="4648200"/>
            <a:ext cx="6168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 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異常點尚未改善完成之規劃說明，及相對應的加強作為</a:t>
            </a:r>
            <a:endParaRPr lang="en-US" altLang="zh-TW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46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9261" y="661261"/>
            <a:ext cx="7886700" cy="55399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1489261" y="1394178"/>
            <a:ext cx="9562160" cy="4962172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3"/>
            </a:pP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洩漏偵測方案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管線巡檢機制介紹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請列出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級地震後巡管重點、位置，並列出</a:t>
            </a:r>
            <a:r>
              <a: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114.1.21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大埔地震及</a:t>
            </a:r>
            <a:r>
              <a: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114.12.27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宜蘭地震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後相關作為。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巡管人員之訓練及考核項目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是否有符合轄管管線之內容物及環境特性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微洩漏之檢測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巡管方法及頻率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129258"/>
              </p:ext>
            </p:extLst>
          </p:nvPr>
        </p:nvGraphicFramePr>
        <p:xfrm>
          <a:off x="1723305" y="2592251"/>
          <a:ext cx="10197763" cy="1673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2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733">
                  <a:extLst>
                    <a:ext uri="{9D8B030D-6E8A-4147-A177-3AD203B41FA5}">
                      <a16:colId xmlns:a16="http://schemas.microsoft.com/office/drawing/2014/main" val="2433105768"/>
                    </a:ext>
                  </a:extLst>
                </a:gridCol>
                <a:gridCol w="1772636">
                  <a:extLst>
                    <a:ext uri="{9D8B030D-6E8A-4147-A177-3AD203B41FA5}">
                      <a16:colId xmlns:a16="http://schemas.microsoft.com/office/drawing/2014/main" val="2354253288"/>
                    </a:ext>
                  </a:extLst>
                </a:gridCol>
                <a:gridCol w="1478564">
                  <a:extLst>
                    <a:ext uri="{9D8B030D-6E8A-4147-A177-3AD203B41FA5}">
                      <a16:colId xmlns:a16="http://schemas.microsoft.com/office/drawing/2014/main" val="928495940"/>
                    </a:ext>
                  </a:extLst>
                </a:gridCol>
                <a:gridCol w="1049868">
                  <a:extLst>
                    <a:ext uri="{9D8B030D-6E8A-4147-A177-3AD203B41FA5}">
                      <a16:colId xmlns:a16="http://schemas.microsoft.com/office/drawing/2014/main" val="3650882740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 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路徑或位置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頻率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次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週期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巡檢人數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員工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外包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巡檢方式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步行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騎車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開車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巡檢項目及執行工作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例行巡管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6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加強巡管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865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9261" y="661261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1489261" y="1394179"/>
            <a:ext cx="9562160" cy="1358490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3"/>
            </a:pP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洩漏偵測方案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Bef>
                <a:spcPts val="800"/>
              </a:spcBef>
              <a:buFont typeface="+mj-lt"/>
              <a:buAutoNum type="arabicParenR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重點巡查作為說明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巡檢異常次數統計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522652"/>
              </p:ext>
            </p:extLst>
          </p:nvPr>
        </p:nvGraphicFramePr>
        <p:xfrm>
          <a:off x="1811125" y="2947162"/>
          <a:ext cx="8305799" cy="287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9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2433105768"/>
                    </a:ext>
                  </a:extLst>
                </a:gridCol>
              </a:tblGrid>
              <a:tr h="479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 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年次數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112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年次數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113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年次數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已會勘，開挖未通知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已會勘，但開挖作業時，仍挖損管線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未會勘，卻已開挖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巡檢時有發現異常情形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次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376170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巡檢發現之異常處理追蹤結案件數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件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680701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CF10CCA6-D99C-4D54-8F09-9BDE3E2C4C07}"/>
              </a:ext>
            </a:extLst>
          </p:cNvPr>
          <p:cNvSpPr/>
          <p:nvPr/>
        </p:nvSpPr>
        <p:spPr bwMode="auto">
          <a:xfrm>
            <a:off x="1811125" y="6019207"/>
            <a:ext cx="8305799" cy="365126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47675" indent="-279400" algn="l">
              <a:buFont typeface="標楷體" panose="03000509000000000000" pitchFamily="65" charset="-120"/>
              <a:buChar char="※"/>
            </a:pP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  <a:cs typeface="Times New Roman" panose="02020603050405020304" pitchFamily="18" charset="0"/>
              </a:rPr>
              <a:t>「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巡檢發現異常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」：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請以長途管線處新定義統計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828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B11FB0-20A2-48FD-B1FD-20B030B3C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貳、管線管理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E0D8A7-DF5E-47D1-B890-8EBA3958F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8926" y="1825625"/>
            <a:ext cx="8858693" cy="46672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巡檢異常分析說明</a:t>
            </a:r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未會勘，卻已開挖；</a:t>
            </a:r>
            <a:r>
              <a: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無則免</a:t>
            </a:r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預防再發生之作為</a:t>
            </a: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CA8987A-40F3-4D64-A70D-09DEBF7B9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544619"/>
              </p:ext>
            </p:extLst>
          </p:nvPr>
        </p:nvGraphicFramePr>
        <p:xfrm>
          <a:off x="2324986" y="2642395"/>
          <a:ext cx="7641051" cy="11268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6786">
                  <a:extLst>
                    <a:ext uri="{9D8B030D-6E8A-4147-A177-3AD203B41FA5}">
                      <a16:colId xmlns:a16="http://schemas.microsoft.com/office/drawing/2014/main" val="3193178312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2978232522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3567173504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1644391887"/>
                    </a:ext>
                  </a:extLst>
                </a:gridCol>
                <a:gridCol w="1378770">
                  <a:extLst>
                    <a:ext uri="{9D8B030D-6E8A-4147-A177-3AD203B41FA5}">
                      <a16:colId xmlns:a16="http://schemas.microsoft.com/office/drawing/2014/main" val="3382116512"/>
                    </a:ext>
                  </a:extLst>
                </a:gridCol>
                <a:gridCol w="1098936">
                  <a:extLst>
                    <a:ext uri="{9D8B030D-6E8A-4147-A177-3AD203B41FA5}">
                      <a16:colId xmlns:a16="http://schemas.microsoft.com/office/drawing/2014/main" val="1950294520"/>
                    </a:ext>
                  </a:extLst>
                </a:gridCol>
              </a:tblGrid>
              <a:tr h="2810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effectLst/>
                        </a:rPr>
                        <a:t>地點</a:t>
                      </a:r>
                      <a:r>
                        <a:rPr lang="en-US" altLang="zh-HK" sz="1200" kern="100" dirty="0">
                          <a:effectLst/>
                        </a:rPr>
                        <a:t>(</a:t>
                      </a:r>
                      <a:r>
                        <a:rPr lang="zh-TW" altLang="en-US" sz="1200" kern="100" dirty="0">
                          <a:effectLst/>
                        </a:rPr>
                        <a:t>縣市政府</a:t>
                      </a:r>
                      <a:r>
                        <a:rPr lang="en-US" altLang="zh-TW" sz="1200" kern="100" dirty="0">
                          <a:effectLst/>
                        </a:rPr>
                        <a:t>)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原因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時間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1713215"/>
                  </a:ext>
                </a:extLst>
              </a:tr>
              <a:tr h="28194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甲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08:00-12:00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6057107"/>
                  </a:ext>
                </a:extLst>
              </a:tr>
              <a:tr h="28194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乙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12:00-18:00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6739083"/>
                  </a:ext>
                </a:extLst>
              </a:tr>
              <a:tr h="28194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丙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18:00-08:00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205437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20BD5F0-B076-47AE-9DDC-03ECBF4E5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808021"/>
              </p:ext>
            </p:extLst>
          </p:nvPr>
        </p:nvGraphicFramePr>
        <p:xfrm>
          <a:off x="2324985" y="4159250"/>
          <a:ext cx="7641051" cy="12353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6786">
                  <a:extLst>
                    <a:ext uri="{9D8B030D-6E8A-4147-A177-3AD203B41FA5}">
                      <a16:colId xmlns:a16="http://schemas.microsoft.com/office/drawing/2014/main" val="943187944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3068885059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2921708281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1552627614"/>
                    </a:ext>
                  </a:extLst>
                </a:gridCol>
                <a:gridCol w="1378771">
                  <a:extLst>
                    <a:ext uri="{9D8B030D-6E8A-4147-A177-3AD203B41FA5}">
                      <a16:colId xmlns:a16="http://schemas.microsoft.com/office/drawing/2014/main" val="452882476"/>
                    </a:ext>
                  </a:extLst>
                </a:gridCol>
                <a:gridCol w="1098935">
                  <a:extLst>
                    <a:ext uri="{9D8B030D-6E8A-4147-A177-3AD203B41FA5}">
                      <a16:colId xmlns:a16="http://schemas.microsoft.com/office/drawing/2014/main" val="3211524668"/>
                    </a:ext>
                  </a:extLst>
                </a:gridCol>
              </a:tblGrid>
              <a:tr h="4093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effectLst/>
                        </a:rPr>
                        <a:t>施工單位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effectLst/>
                        </a:rPr>
                        <a:t>次數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道路主管機關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其他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6952112"/>
                  </a:ext>
                </a:extLst>
              </a:tr>
              <a:tr h="27532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solidFill>
                            <a:schemeClr val="tx1"/>
                          </a:solidFill>
                          <a:effectLst/>
                        </a:rPr>
                        <a:t>台電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公路局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8029640"/>
                  </a:ext>
                </a:extLst>
              </a:tr>
              <a:tr h="27532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solidFill>
                            <a:schemeClr val="tx1"/>
                          </a:solidFill>
                          <a:effectLst/>
                        </a:rPr>
                        <a:t>台水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高公局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5308337"/>
                  </a:ext>
                </a:extLst>
              </a:tr>
              <a:tr h="27532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solidFill>
                            <a:schemeClr val="tx1"/>
                          </a:solidFill>
                          <a:effectLst/>
                        </a:rPr>
                        <a:t>中華電信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縣市政府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2399335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D49016-A085-443C-8120-1DAF55756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7786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貳、管線管理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1828800" y="1828800"/>
            <a:ext cx="9699812" cy="2974975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4"/>
            </a:pPr>
            <a:r>
              <a:rPr lang="en-US" altLang="zh-TW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天然氣管線維修檢測、汰換、防盜、防漏及緊急應變計畫表執行情況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03288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年度預計與實際執行對照表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2438" indent="0">
              <a:buNone/>
            </a:pP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若有不一致請補充說明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8564564" y="6378575"/>
            <a:ext cx="2103437" cy="342900"/>
          </a:xfrm>
        </p:spPr>
        <p:txBody>
          <a:bodyPr/>
          <a:lstStyle/>
          <a:p>
            <a:fld id="{B6F15528-21DE-4FAA-801E-634DDDAF4B2B}" type="slidenum">
              <a:rPr lang="en-US" altLang="zh-TW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116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404675"/>
            <a:ext cx="6973418" cy="6093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、控制室管理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轄區自訂之監控中心管理程序書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非總公司版本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管理方式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人數、輪班制、時數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班、人數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班等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現有即時監測系統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各管線壓力計及流量計之校正週期、最近一次校正日期及校正結果（列表說明）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altLang="zh-TW" smtClean="0"/>
              <a:pPr/>
              <a:t>16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225153"/>
              </p:ext>
            </p:extLst>
          </p:nvPr>
        </p:nvGraphicFramePr>
        <p:xfrm>
          <a:off x="1676402" y="2989415"/>
          <a:ext cx="9524995" cy="168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425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546449298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3411777520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1045382388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3174517286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3498343091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3199454943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2812315280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103430437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1511489417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3372748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自有端是否有設置壓力計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壓力計校正週期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自有端是否有設置流量計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流量計型式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質量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超音波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/…)</a:t>
                      </a:r>
                      <a:endParaRPr lang="zh-TW" altLang="en-US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流量計最小精度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056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065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404675"/>
            <a:ext cx="6973418" cy="6093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、控制室管理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4"/>
            </a:pP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各管線流量及壓力警報設定上、下限值及依據（列表說明）</a:t>
            </a:r>
            <a:endParaRPr lang="en-US" altLang="zh-TW" sz="20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6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</a:t>
            </a:r>
            <a:r>
              <a:rPr lang="zh-TW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管線泵送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模式說明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進出節點、壓力流量計位置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及注意重點</a:t>
            </a:r>
            <a:endParaRPr lang="en-US" altLang="zh-TW" sz="20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流量及壓力警報發生頻率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與設定範圍之關係探討</a:t>
            </a:r>
            <a:endParaRPr lang="en-US" altLang="zh-TW" sz="20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有異常情形發生時，其操作流程圖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altLang="zh-TW" smtClean="0"/>
              <a:pPr/>
              <a:t>17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873460"/>
              </p:ext>
            </p:extLst>
          </p:nvPr>
        </p:nvGraphicFramePr>
        <p:xfrm>
          <a:off x="2479963" y="2026621"/>
          <a:ext cx="7874236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856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1343320">
                  <a:extLst>
                    <a:ext uri="{9D8B030D-6E8A-4147-A177-3AD203B41FA5}">
                      <a16:colId xmlns:a16="http://schemas.microsoft.com/office/drawing/2014/main" val="1693509478"/>
                    </a:ext>
                  </a:extLst>
                </a:gridCol>
                <a:gridCol w="1269765">
                  <a:extLst>
                    <a:ext uri="{9D8B030D-6E8A-4147-A177-3AD203B41FA5}">
                      <a16:colId xmlns:a16="http://schemas.microsoft.com/office/drawing/2014/main" val="1679811458"/>
                    </a:ext>
                  </a:extLst>
                </a:gridCol>
                <a:gridCol w="1269765">
                  <a:extLst>
                    <a:ext uri="{9D8B030D-6E8A-4147-A177-3AD203B41FA5}">
                      <a16:colId xmlns:a16="http://schemas.microsoft.com/office/drawing/2014/main" val="2575217548"/>
                    </a:ext>
                  </a:extLst>
                </a:gridCol>
                <a:gridCol w="1269765">
                  <a:extLst>
                    <a:ext uri="{9D8B030D-6E8A-4147-A177-3AD203B41FA5}">
                      <a16:colId xmlns:a16="http://schemas.microsoft.com/office/drawing/2014/main" val="339844691"/>
                    </a:ext>
                  </a:extLst>
                </a:gridCol>
                <a:gridCol w="1269765">
                  <a:extLst>
                    <a:ext uri="{9D8B030D-6E8A-4147-A177-3AD203B41FA5}">
                      <a16:colId xmlns:a16="http://schemas.microsoft.com/office/drawing/2014/main" val="30851829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負責泵送或接收之控制室名稱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操作壓力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歷史操作壓力變動範圍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(%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或絕對值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663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132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叁、控制室管理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2189521" y="1600200"/>
            <a:ext cx="7239000" cy="3429000"/>
          </a:xfrm>
        </p:spPr>
        <p:txBody>
          <a:bodyPr/>
          <a:lstStyle/>
          <a:p>
            <a:pPr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操作人員授證與能力</a:t>
            </a:r>
            <a:endParaRPr lang="zh-TW" altLang="en-US" sz="2400" b="1" dirty="0">
              <a:solidFill>
                <a:srgbClr val="00B05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合格操作人員要求及授證程序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操作人員職責要求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操作人員對於轄屬管線的路徑熟悉度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操作班與管線單位之互動機制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操作人員對系統之異常設定及應變之熟悉度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18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8519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73201" y="1724026"/>
            <a:ext cx="10095255" cy="4151841"/>
          </a:xfrm>
        </p:spPr>
        <p:txBody>
          <a:bodyPr>
            <a:normAutofit/>
          </a:bodyPr>
          <a:lstStyle/>
          <a:p>
            <a:pPr marL="12700" marR="5080" indent="-514350">
              <a:lnSpc>
                <a:spcPct val="200000"/>
              </a:lnSpc>
              <a:buFont typeface="+mj-ea"/>
              <a:buAutoNum type="ea1ChtPeriod"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長途輸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氣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管線事故緊急應變處理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2700" marR="5080" indent="-514350">
              <a:lnSpc>
                <a:spcPct val="200000"/>
              </a:lnSpc>
              <a:buFont typeface="+mj-ea"/>
              <a:buAutoNum type="ea1ChtPeriod"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地震後緊急應變處理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供氣穩定應變機制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來源氣變動之氣源切轉規劃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操作流程</a:t>
            </a:r>
          </a:p>
        </p:txBody>
      </p:sp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肆、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災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害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防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救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執行情況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6D52F8C0-FB4E-45B7-AD0E-F395CB086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19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8597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肆、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災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害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防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救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執行情況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1816474" y="1703216"/>
            <a:ext cx="9537326" cy="4285207"/>
          </a:xfrm>
        </p:spPr>
        <p:txBody>
          <a:bodyPr>
            <a:noAutofit/>
          </a:bodyPr>
          <a:lstStyle/>
          <a:p>
            <a:pPr>
              <a:buFont typeface="+mj-ea"/>
              <a:buAutoNum type="ea1ChtPeriod" startAt="4"/>
            </a:pP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場站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及長途管線洩漏偵測設施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校正週期說明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校正標準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維修、汰換機制說明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+mj-ea"/>
              <a:buAutoNum type="ea1ChtPeriod" startAt="4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場站洩漏偵測自主檢測執行情況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檢測方法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檢測頻度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檢測範圍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檢測標準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檢測結果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500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肆、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災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害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防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救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執行情況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1816474" y="1703216"/>
            <a:ext cx="9537326" cy="2868783"/>
          </a:xfrm>
        </p:spPr>
        <p:txBody>
          <a:bodyPr>
            <a:noAutofit/>
          </a:bodyPr>
          <a:lstStyle/>
          <a:p>
            <a:pPr marL="514350" indent="-514350">
              <a:buFont typeface="+mj-ea"/>
              <a:buAutoNum type="ea1ChtPeriod" startAt="6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洩漏檢測尚未改善完成說明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年已檢測者，含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21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664D682-FA6E-42A2-B77E-E5144029E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374497"/>
              </p:ext>
            </p:extLst>
          </p:nvPr>
        </p:nvGraphicFramePr>
        <p:xfrm>
          <a:off x="2346528" y="2595754"/>
          <a:ext cx="8270672" cy="1370674"/>
        </p:xfrm>
        <a:graphic>
          <a:graphicData uri="http://schemas.openxmlformats.org/drawingml/2006/table">
            <a:tbl>
              <a:tblPr firstRow="1" firstCol="1" bandRow="1"/>
              <a:tblGrid>
                <a:gridCol w="555867">
                  <a:extLst>
                    <a:ext uri="{9D8B030D-6E8A-4147-A177-3AD203B41FA5}">
                      <a16:colId xmlns:a16="http://schemas.microsoft.com/office/drawing/2014/main" val="320258615"/>
                    </a:ext>
                  </a:extLst>
                </a:gridCol>
                <a:gridCol w="1070452">
                  <a:extLst>
                    <a:ext uri="{9D8B030D-6E8A-4147-A177-3AD203B41FA5}">
                      <a16:colId xmlns:a16="http://schemas.microsoft.com/office/drawing/2014/main" val="3007859862"/>
                    </a:ext>
                  </a:extLst>
                </a:gridCol>
                <a:gridCol w="1111735">
                  <a:extLst>
                    <a:ext uri="{9D8B030D-6E8A-4147-A177-3AD203B41FA5}">
                      <a16:colId xmlns:a16="http://schemas.microsoft.com/office/drawing/2014/main" val="3240105619"/>
                    </a:ext>
                  </a:extLst>
                </a:gridCol>
                <a:gridCol w="1111735">
                  <a:extLst>
                    <a:ext uri="{9D8B030D-6E8A-4147-A177-3AD203B41FA5}">
                      <a16:colId xmlns:a16="http://schemas.microsoft.com/office/drawing/2014/main" val="1436798686"/>
                    </a:ext>
                  </a:extLst>
                </a:gridCol>
                <a:gridCol w="1111735">
                  <a:extLst>
                    <a:ext uri="{9D8B030D-6E8A-4147-A177-3AD203B41FA5}">
                      <a16:colId xmlns:a16="http://schemas.microsoft.com/office/drawing/2014/main" val="4006767415"/>
                    </a:ext>
                  </a:extLst>
                </a:gridCol>
                <a:gridCol w="1757687">
                  <a:extLst>
                    <a:ext uri="{9D8B030D-6E8A-4147-A177-3AD203B41FA5}">
                      <a16:colId xmlns:a16="http://schemas.microsoft.com/office/drawing/2014/main" val="2107366624"/>
                    </a:ext>
                  </a:extLst>
                </a:gridCol>
                <a:gridCol w="1551461">
                  <a:extLst>
                    <a:ext uri="{9D8B030D-6E8A-4147-A177-3AD203B41FA5}">
                      <a16:colId xmlns:a16="http://schemas.microsoft.com/office/drawing/2014/main" val="28401042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序號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站場名稱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檢測日期</a:t>
                      </a:r>
                      <a:endParaRPr lang="en-US" alt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日</a:t>
                      </a: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洩漏位置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洩漏源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甲烷濃度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改善情形說明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尚未改善完成前之防護措施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222941"/>
                  </a:ext>
                </a:extLst>
              </a:tr>
              <a:tr h="2586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配氣站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113/XX/XX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xx%LEL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xxxxx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ppm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540706"/>
                  </a:ext>
                </a:extLst>
              </a:tr>
              <a:tr h="2586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317672"/>
                  </a:ext>
                </a:extLst>
              </a:tr>
              <a:tr h="2586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176647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BA0A503B-9813-4F10-B647-2888AD515F22}"/>
              </a:ext>
            </a:extLst>
          </p:cNvPr>
          <p:cNvSpPr txBox="1"/>
          <p:nvPr/>
        </p:nvSpPr>
        <p:spPr>
          <a:xfrm>
            <a:off x="2001067" y="4864009"/>
            <a:ext cx="9537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※ </a:t>
            </a:r>
            <a:r>
              <a:rPr lang="en-US" altLang="zh-TW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年以前洩漏檢測尚未改善完成處，將列入</a:t>
            </a:r>
            <a:r>
              <a:rPr lang="en-US" altLang="zh-TW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115</a:t>
            </a:r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年查核建議，以利追蹤</a:t>
            </a:r>
            <a:r>
              <a:rPr lang="en-US" altLang="zh-TW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endParaRPr lang="zh-TW" altLang="en-US" sz="20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2302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8781" y="524963"/>
            <a:ext cx="8323656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9685">
              <a:lnSpc>
                <a:spcPct val="100000"/>
              </a:lnSpc>
            </a:pP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22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471383"/>
              </p:ext>
            </p:extLst>
          </p:nvPr>
        </p:nvGraphicFramePr>
        <p:xfrm>
          <a:off x="2138781" y="1934278"/>
          <a:ext cx="8422434" cy="4279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4701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1264701">
                  <a:extLst>
                    <a:ext uri="{9D8B030D-6E8A-4147-A177-3AD203B41FA5}">
                      <a16:colId xmlns:a16="http://schemas.microsoft.com/office/drawing/2014/main" val="1463977310"/>
                    </a:ext>
                  </a:extLst>
                </a:gridCol>
                <a:gridCol w="1264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1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一、虛驚事故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sz="1800" kern="100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二、作業事故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事故日期</a:t>
                      </a:r>
                      <a:endParaRPr lang="zh-TW" altLang="zh-TW" sz="1800" kern="100" spc="-100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alt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2286001" y="1352731"/>
            <a:ext cx="8422434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/>
            </a:pP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</a:t>
            </a:r>
            <a:r>
              <a:rPr lang="en-US" altLang="zh-TW" sz="2400" kern="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(112</a:t>
            </a:r>
            <a:r>
              <a:rPr lang="zh-TW" altLang="en-US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迄今</a:t>
            </a:r>
            <a:r>
              <a:rPr lang="en-US" altLang="zh-TW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故分析</a:t>
            </a:r>
            <a:r>
              <a:rPr lang="zh-TW" altLang="en-US" sz="2400" kern="0" spc="-2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討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改善情形</a:t>
            </a:r>
          </a:p>
        </p:txBody>
      </p:sp>
    </p:spTree>
    <p:extLst>
      <p:ext uri="{BB962C8B-B14F-4D97-AF65-F5344CB8AC3E}">
        <p14:creationId xmlns:p14="http://schemas.microsoft.com/office/powerpoint/2010/main" val="2476093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805819"/>
              </p:ext>
            </p:extLst>
          </p:nvPr>
        </p:nvGraphicFramePr>
        <p:xfrm>
          <a:off x="1900518" y="2205259"/>
          <a:ext cx="8946776" cy="213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4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065">
                  <a:extLst>
                    <a:ext uri="{9D8B030D-6E8A-4147-A177-3AD203B41FA5}">
                      <a16:colId xmlns:a16="http://schemas.microsoft.com/office/drawing/2014/main" val="454378155"/>
                    </a:ext>
                  </a:extLst>
                </a:gridCol>
                <a:gridCol w="2239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9323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</a:tblGrid>
              <a:tr h="418599">
                <a:tc grid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dirty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23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717090" y="1489908"/>
            <a:ext cx="93622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2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包含石油管線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事故列表</a:t>
            </a:r>
          </a:p>
        </p:txBody>
      </p:sp>
    </p:spTree>
    <p:extLst>
      <p:ext uri="{BB962C8B-B14F-4D97-AF65-F5344CB8AC3E}">
        <p14:creationId xmlns:p14="http://schemas.microsoft.com/office/powerpoint/2010/main" val="2916400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026077"/>
              </p:ext>
            </p:extLst>
          </p:nvPr>
        </p:nvGraphicFramePr>
        <p:xfrm>
          <a:off x="1541391" y="2438401"/>
          <a:ext cx="9346741" cy="2969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8283">
                  <a:extLst>
                    <a:ext uri="{9D8B030D-6E8A-4147-A177-3AD203B41FA5}">
                      <a16:colId xmlns:a16="http://schemas.microsoft.com/office/drawing/2014/main" val="2227324022"/>
                    </a:ext>
                  </a:extLst>
                </a:gridCol>
                <a:gridCol w="165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163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2745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平行展開作為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114.02.25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苗栗供氣中心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天然氣管線腐蝕洩漏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114.03.23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基隆供油中心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麥金路三號橋燃料油管洩漏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114.04.25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桃園煉油廠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新北市林口區桃園煉油廠油料管線洩漏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24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506979" y="1760953"/>
            <a:ext cx="986531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3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年度公司其他單位輸儲設施事故，</a:t>
            </a: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受查單位有平行展開者請列表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8C8E4BA-AFCC-4C05-BB0A-24D656E2C05D}"/>
              </a:ext>
            </a:extLst>
          </p:cNvPr>
          <p:cNvSpPr txBox="1"/>
          <p:nvPr/>
        </p:nvSpPr>
        <p:spPr>
          <a:xfrm>
            <a:off x="8266902" y="1183777"/>
            <a:ext cx="2621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</a:rPr>
              <a:t>※ 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</a:rPr>
              <a:t>交通事故請勿列入</a:t>
            </a:r>
          </a:p>
        </p:txBody>
      </p:sp>
    </p:spTree>
    <p:extLst>
      <p:ext uri="{BB962C8B-B14F-4D97-AF65-F5344CB8AC3E}">
        <p14:creationId xmlns:p14="http://schemas.microsoft.com/office/powerpoint/2010/main" val="4061000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09800" y="561308"/>
            <a:ext cx="6973418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陸、自主管理落實度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234381" y="1402314"/>
            <a:ext cx="7543800" cy="105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長途管線</a:t>
            </a:r>
            <a:r>
              <a:rPr kumimoji="0" lang="zh-HK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90487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最近一次長途</a:t>
            </a:r>
            <a:r>
              <a:rPr kumimoji="0" lang="zh-HK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管線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內部稽核執行結果說明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16406D6-50FB-4972-82D2-787CC90A0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664454"/>
              </p:ext>
            </p:extLst>
          </p:nvPr>
        </p:nvGraphicFramePr>
        <p:xfrm>
          <a:off x="2585797" y="2743201"/>
          <a:ext cx="7020409" cy="2362201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76581">
                  <a:extLst>
                    <a:ext uri="{9D8B030D-6E8A-4147-A177-3AD203B41FA5}">
                      <a16:colId xmlns:a16="http://schemas.microsoft.com/office/drawing/2014/main" val="82374763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261849221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796810848"/>
                    </a:ext>
                  </a:extLst>
                </a:gridCol>
                <a:gridCol w="2635520">
                  <a:extLst>
                    <a:ext uri="{9D8B030D-6E8A-4147-A177-3AD203B41FA5}">
                      <a16:colId xmlns:a16="http://schemas.microsoft.com/office/drawing/2014/main" val="3822681332"/>
                    </a:ext>
                  </a:extLst>
                </a:gridCol>
              </a:tblGrid>
              <a:tr h="497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執行單位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稽核缺失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缺失改善執行狀況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1636447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867621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304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65396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6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767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86000" y="561308"/>
            <a:ext cx="6973418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陸、自主管理落實度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>
                <a:defRPr/>
              </a:pPr>
              <a:t>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283271"/>
              </p:ext>
            </p:extLst>
          </p:nvPr>
        </p:nvGraphicFramePr>
        <p:xfrm>
          <a:off x="2585797" y="2743201"/>
          <a:ext cx="7020409" cy="2362201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76581">
                  <a:extLst>
                    <a:ext uri="{9D8B030D-6E8A-4147-A177-3AD203B41FA5}">
                      <a16:colId xmlns:a16="http://schemas.microsoft.com/office/drawing/2014/main" val="82374763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261849221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796810848"/>
                    </a:ext>
                  </a:extLst>
                </a:gridCol>
                <a:gridCol w="2635520">
                  <a:extLst>
                    <a:ext uri="{9D8B030D-6E8A-4147-A177-3AD203B41FA5}">
                      <a16:colId xmlns:a16="http://schemas.microsoft.com/office/drawing/2014/main" val="3822681332"/>
                    </a:ext>
                  </a:extLst>
                </a:gridCol>
              </a:tblGrid>
              <a:tr h="497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執行單位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稽核缺失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缺失改善執行狀況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1636447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867621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304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65396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62061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286000" y="1412146"/>
            <a:ext cx="7162800" cy="105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其他天然氣輸儲設施</a:t>
            </a:r>
            <a:r>
              <a:rPr lang="zh-HK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</a:t>
            </a:r>
            <a:endParaRPr lang="zh-TW" altLang="en-US" sz="2400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  <a:p>
            <a:pPr marL="904875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arenR"/>
              <a:defRPr/>
            </a:pP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最近一次其他天然氣輸儲設施內部稽核執行結果說明</a:t>
            </a:r>
            <a:endParaRPr lang="en-US" altLang="zh-TW" sz="20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212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7436" y="609600"/>
            <a:ext cx="8003364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柒</a:t>
            </a:r>
            <a:r>
              <a:rPr kumimoji="0" sz="3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/>
                <a:ea typeface="+mn-ea"/>
                <a:cs typeface="標楷體"/>
              </a:rPr>
              <a:t>、</a:t>
            </a:r>
            <a:r>
              <a:rPr kumimoji="0" lang="zh-TW" altLang="en-US" sz="3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歷年查核建議之尚未改善完成說明</a:t>
            </a:r>
            <a:endParaRPr kumimoji="0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標楷體"/>
              <a:ea typeface="+mn-ea"/>
              <a:cs typeface="標楷體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3136"/>
              </p:ext>
            </p:extLst>
          </p:nvPr>
        </p:nvGraphicFramePr>
        <p:xfrm>
          <a:off x="2057401" y="2667000"/>
          <a:ext cx="7976783" cy="15999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2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5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3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446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項目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分類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編號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查核結果及建議事項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事業單位回覆及辦理情形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改善期程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(</a:t>
                      </a: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請填日期</a:t>
                      </a: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)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altLang="zh-TW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8604E9-6E8B-45BC-823B-1A2C9B5CB678}"/>
              </a:ext>
            </a:extLst>
          </p:cNvPr>
          <p:cNvSpPr txBox="1"/>
          <p:nvPr/>
        </p:nvSpPr>
        <p:spPr>
          <a:xfrm>
            <a:off x="1705321" y="1407467"/>
            <a:ext cx="9007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列出</a:t>
            </a:r>
            <a:r>
              <a:rPr lang="zh-TW" altLang="en-US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最近一次收到正式公文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尚未改善完成之查核建議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b="1" u="sng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查核當天簡報不須報告本項</a:t>
            </a:r>
            <a:r>
              <a:rPr lang="zh-TW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，資料供查核委員參照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委員可提問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2078</TotalTime>
  <Words>2184</Words>
  <Application>Microsoft Office PowerPoint</Application>
  <PresentationFormat>寬螢幕</PresentationFormat>
  <Paragraphs>662</Paragraphs>
  <Slides>27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27</vt:i4>
      </vt:variant>
    </vt:vector>
  </HeadingPairs>
  <TitlesOfParts>
    <vt:vector size="37" baseType="lpstr">
      <vt:lpstr>PMingLiU</vt:lpstr>
      <vt:lpstr>標楷體</vt:lpstr>
      <vt:lpstr>Arial</vt:lpstr>
      <vt:lpstr>Calibri</vt:lpstr>
      <vt:lpstr>Calibri Light</vt:lpstr>
      <vt:lpstr>Times New Roman</vt:lpstr>
      <vt:lpstr>Wingdings</vt:lpstr>
      <vt:lpstr>Office 佈景主題</vt:lpstr>
      <vt:lpstr>1_Office 佈景主題</vt:lpstr>
      <vt:lpstr>Office Theme</vt:lpstr>
      <vt:lpstr>115年度 天然氣生產進口事業輸儲設備查核 天然氣事業部○○供氣中心、 通霄轉輸中心、探採事業部 天然氣處理廠、採油工程處</vt:lpstr>
      <vt:lpstr>大綱</vt:lpstr>
      <vt:lpstr>壹、事業單位之基本資料</vt:lpstr>
      <vt:lpstr>PowerPoint 簡報</vt:lpstr>
      <vt:lpstr>貳、管線管理</vt:lpstr>
      <vt:lpstr>貳、管線管理</vt:lpstr>
      <vt:lpstr>貳、管線管理</vt:lpstr>
      <vt:lpstr>壹、管線管理</vt:lpstr>
      <vt:lpstr>貳、管線管理</vt:lpstr>
      <vt:lpstr>貳、管線管理</vt:lpstr>
      <vt:lpstr>壹、管線管理</vt:lpstr>
      <vt:lpstr>貳、管線管理</vt:lpstr>
      <vt:lpstr>貳、管線管理</vt:lpstr>
      <vt:lpstr>貳、管線管理</vt:lpstr>
      <vt:lpstr>貳、管線管理</vt:lpstr>
      <vt:lpstr>叁、控制室管理</vt:lpstr>
      <vt:lpstr>叁、控制室管理</vt:lpstr>
      <vt:lpstr>叁、控制室管理</vt:lpstr>
      <vt:lpstr>肆、災害防救執行情況</vt:lpstr>
      <vt:lpstr>肆、災害防救執行情況</vt:lpstr>
      <vt:lpstr>肆、災害防救執行情況</vt:lpstr>
      <vt:lpstr>伍、事故學習</vt:lpstr>
      <vt:lpstr>伍、事故學習</vt:lpstr>
      <vt:lpstr>伍、事故學習</vt:lpstr>
      <vt:lpstr>陸、自主管理落實度</vt:lpstr>
      <vt:lpstr>陸、自主管理落實度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110年度 天然氣生產進口事業輸儲設備查核 天然氣(探採)事業部○○○○(液化天然氣廠、供氣中心、處理廠)</dc:title>
  <dc:creator>林素玉</dc:creator>
  <cp:lastModifiedBy>林素玉</cp:lastModifiedBy>
  <cp:revision>94</cp:revision>
  <dcterms:created xsi:type="dcterms:W3CDTF">2021-02-19T07:56:45Z</dcterms:created>
  <dcterms:modified xsi:type="dcterms:W3CDTF">2026-01-27T17:37:53Z</dcterms:modified>
</cp:coreProperties>
</file>