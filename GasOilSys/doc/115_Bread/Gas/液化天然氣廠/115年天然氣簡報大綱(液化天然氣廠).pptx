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86" r:id="rId2"/>
    <p:sldMasterId id="2147483698" r:id="rId3"/>
  </p:sldMasterIdLst>
  <p:sldIdLst>
    <p:sldId id="256" r:id="rId4"/>
    <p:sldId id="257" r:id="rId5"/>
    <p:sldId id="260" r:id="rId6"/>
    <p:sldId id="284" r:id="rId7"/>
    <p:sldId id="306" r:id="rId8"/>
    <p:sldId id="307" r:id="rId9"/>
    <p:sldId id="286" r:id="rId10"/>
    <p:sldId id="283" r:id="rId11"/>
    <p:sldId id="264" r:id="rId12"/>
    <p:sldId id="272" r:id="rId13"/>
    <p:sldId id="302" r:id="rId14"/>
    <p:sldId id="271" r:id="rId15"/>
    <p:sldId id="297" r:id="rId16"/>
    <p:sldId id="298" r:id="rId17"/>
    <p:sldId id="287" r:id="rId18"/>
    <p:sldId id="29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林素玉" initials="林素玉" lastIdx="1" clrIdx="0">
    <p:extLst>
      <p:ext uri="{19B8F6BF-5375-455C-9EA6-DF929625EA0E}">
        <p15:presenceInfo xmlns:p15="http://schemas.microsoft.com/office/powerpoint/2012/main" userId="S-1-5-21-3886091937-3993499380-1032164792-1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9EDF4"/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4" autoAdjust="0"/>
    <p:restoredTop sz="94660"/>
  </p:normalViewPr>
  <p:slideViewPr>
    <p:cSldViewPr snapToGrid="0">
      <p:cViewPr varScale="1">
        <p:scale>
          <a:sx n="62" d="100"/>
          <a:sy n="62" d="100"/>
        </p:scale>
        <p:origin x="5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2-16T12:10:15.070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2-16T12:10:15.070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4966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0233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5629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6833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5188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3672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641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4614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2725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5172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2203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19708" y="555740"/>
            <a:ext cx="10552581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78146-4C1D-41FE-BF5E-1D7867AC1B13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91040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26355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38273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54980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59000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42489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99475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96640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3679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11175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26182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41232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19708" y="521589"/>
            <a:ext cx="10552581" cy="622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78146-4C1D-41FE-BF5E-1D7867AC1B13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91590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8194F-2846-4DC9-A1CB-ABA4B10B4F15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84290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60E42-D240-464D-BDBF-706F7D2B21F6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11377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441A14-4691-417A-8844-17A590D27649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87264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C227A-6CD0-4D72-A4ED-473A6BE3F191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5340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0654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CEB49-B8D7-4687-A33F-35E35086082B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4066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23109" y="521589"/>
            <a:ext cx="6145783" cy="622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5166" y="3176778"/>
            <a:ext cx="1104646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CEB49-B8D7-4687-A33F-35E35086082B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1619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115</a:t>
            </a:r>
            <a:r>
              <a:rPr lang="zh-TW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年度</a:t>
            </a:r>
            <a:br>
              <a:rPr lang="zh-TW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zh-TW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天然氣生產進口事業輸儲設備查核</a:t>
            </a:r>
            <a:br>
              <a:rPr lang="zh-TW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天然氣事業部○○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液化天然氣廠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2667000" y="4415382"/>
            <a:ext cx="6858000" cy="1655762"/>
          </a:xfrm>
        </p:spPr>
        <p:txBody>
          <a:bodyPr/>
          <a:lstStyle/>
          <a:p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報告人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○○○</a:t>
            </a: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115/xx/xx</a:t>
            </a:r>
            <a:endParaRPr lang="zh-TW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760649" y="368446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附件</a:t>
            </a:r>
            <a:r>
              <a:rPr lang="en-US" altLang="zh-TW" dirty="0"/>
              <a:t>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08314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大綱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壹、事業單位之基本資料</a:t>
            </a:r>
          </a:p>
          <a:p>
            <a:pPr marL="0" indent="0">
              <a:buNone/>
            </a:pP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貳、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管線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管理</a:t>
            </a:r>
          </a:p>
          <a:p>
            <a:pPr marL="0" indent="0">
              <a:buNone/>
            </a:pP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參、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控制室管理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肆、設施管理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伍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災害防救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陸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事故學習</a:t>
            </a:r>
            <a:endParaRPr lang="zh-TW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柒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自主管理落實度</a:t>
            </a:r>
            <a:endParaRPr lang="zh-TW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捌、</a:t>
            </a:r>
            <a:r>
              <a:rPr lang="zh-TW" altLang="en-US" spc="5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歷年查核建議之尚未改善完成說明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70038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壹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、事業單位之基本資料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ea"/>
              <a:buAutoNum type="ea1ChtPeriod"/>
            </a:pP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製程單元或輸儲流程</a:t>
            </a:r>
          </a:p>
        </p:txBody>
      </p:sp>
    </p:spTree>
    <p:extLst>
      <p:ext uri="{BB962C8B-B14F-4D97-AF65-F5344CB8AC3E}">
        <p14:creationId xmlns:p14="http://schemas.microsoft.com/office/powerpoint/2010/main" val="2493188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 txBox="1">
            <a:spLocks noGrp="1"/>
          </p:cNvSpPr>
          <p:nvPr>
            <p:ph type="title"/>
          </p:nvPr>
        </p:nvSpPr>
        <p:spPr>
          <a:xfrm>
            <a:off x="2152650" y="723208"/>
            <a:ext cx="7886700" cy="60939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貳、管線管理</a:t>
            </a:r>
            <a:endParaRPr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2152650" y="1654195"/>
            <a:ext cx="8210550" cy="41597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絕緣法蘭檢測及維護情形</a:t>
            </a:r>
            <a:endParaRPr lang="en-US" altLang="zh-TW" sz="26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sz="2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站場地上管線維護管理情形</a:t>
            </a:r>
            <a:endParaRPr lang="en-US" altLang="zh-TW" sz="26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88884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0" y="404675"/>
            <a:ext cx="6973418" cy="6093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叁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、控制室管理</a:t>
            </a:r>
            <a:endParaRPr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2057400" y="901173"/>
            <a:ext cx="91440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監控中心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/>
            </a:pP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轄區自訂之監控中心管理程序書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非總公司版本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spcAft>
                <a:spcPts val="300"/>
              </a:spcAft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管理方式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人數、輪班制、時數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班、人數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班等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spcAft>
                <a:spcPts val="300"/>
              </a:spcAft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現有即時監測系統、</a:t>
            </a:r>
            <a:r>
              <a:rPr lang="zh-TW" altLang="en-US" sz="2000" b="1" dirty="0">
                <a:solidFill>
                  <a:srgbClr val="00B0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各管線壓力計及流量計之校正週期、最近一次校正日期及校正結果（列表說明）</a:t>
            </a: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/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zh-TW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altLang="zh-TW" smtClean="0"/>
              <a:pPr/>
              <a:t>5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D10741F-2E1D-4814-8464-E3A3C04D5A6D}"/>
              </a:ext>
            </a:extLst>
          </p:cNvPr>
          <p:cNvGraphicFramePr>
            <a:graphicFrameLocks noGrp="1"/>
          </p:cNvGraphicFramePr>
          <p:nvPr/>
        </p:nvGraphicFramePr>
        <p:xfrm>
          <a:off x="1676402" y="2989415"/>
          <a:ext cx="9524995" cy="168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7425">
                  <a:extLst>
                    <a:ext uri="{9D8B030D-6E8A-4147-A177-3AD203B41FA5}">
                      <a16:colId xmlns:a16="http://schemas.microsoft.com/office/drawing/2014/main" val="1147236493"/>
                    </a:ext>
                  </a:extLst>
                </a:gridCol>
                <a:gridCol w="836757">
                  <a:extLst>
                    <a:ext uri="{9D8B030D-6E8A-4147-A177-3AD203B41FA5}">
                      <a16:colId xmlns:a16="http://schemas.microsoft.com/office/drawing/2014/main" val="546449298"/>
                    </a:ext>
                  </a:extLst>
                </a:gridCol>
                <a:gridCol w="836757">
                  <a:extLst>
                    <a:ext uri="{9D8B030D-6E8A-4147-A177-3AD203B41FA5}">
                      <a16:colId xmlns:a16="http://schemas.microsoft.com/office/drawing/2014/main" val="3411777520"/>
                    </a:ext>
                  </a:extLst>
                </a:gridCol>
                <a:gridCol w="836757">
                  <a:extLst>
                    <a:ext uri="{9D8B030D-6E8A-4147-A177-3AD203B41FA5}">
                      <a16:colId xmlns:a16="http://schemas.microsoft.com/office/drawing/2014/main" val="1045382388"/>
                    </a:ext>
                  </a:extLst>
                </a:gridCol>
                <a:gridCol w="836757">
                  <a:extLst>
                    <a:ext uri="{9D8B030D-6E8A-4147-A177-3AD203B41FA5}">
                      <a16:colId xmlns:a16="http://schemas.microsoft.com/office/drawing/2014/main" val="3174517286"/>
                    </a:ext>
                  </a:extLst>
                </a:gridCol>
                <a:gridCol w="836757">
                  <a:extLst>
                    <a:ext uri="{9D8B030D-6E8A-4147-A177-3AD203B41FA5}">
                      <a16:colId xmlns:a16="http://schemas.microsoft.com/office/drawing/2014/main" val="3498343091"/>
                    </a:ext>
                  </a:extLst>
                </a:gridCol>
                <a:gridCol w="836757">
                  <a:extLst>
                    <a:ext uri="{9D8B030D-6E8A-4147-A177-3AD203B41FA5}">
                      <a16:colId xmlns:a16="http://schemas.microsoft.com/office/drawing/2014/main" val="3199454943"/>
                    </a:ext>
                  </a:extLst>
                </a:gridCol>
                <a:gridCol w="836757">
                  <a:extLst>
                    <a:ext uri="{9D8B030D-6E8A-4147-A177-3AD203B41FA5}">
                      <a16:colId xmlns:a16="http://schemas.microsoft.com/office/drawing/2014/main" val="2812315280"/>
                    </a:ext>
                  </a:extLst>
                </a:gridCol>
                <a:gridCol w="836757">
                  <a:extLst>
                    <a:ext uri="{9D8B030D-6E8A-4147-A177-3AD203B41FA5}">
                      <a16:colId xmlns:a16="http://schemas.microsoft.com/office/drawing/2014/main" val="103430437"/>
                    </a:ext>
                  </a:extLst>
                </a:gridCol>
                <a:gridCol w="836757">
                  <a:extLst>
                    <a:ext uri="{9D8B030D-6E8A-4147-A177-3AD203B41FA5}">
                      <a16:colId xmlns:a16="http://schemas.microsoft.com/office/drawing/2014/main" val="1511489417"/>
                    </a:ext>
                  </a:extLst>
                </a:gridCol>
                <a:gridCol w="836757">
                  <a:extLst>
                    <a:ext uri="{9D8B030D-6E8A-4147-A177-3AD203B41FA5}">
                      <a16:colId xmlns:a16="http://schemas.microsoft.com/office/drawing/2014/main" val="33727483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管線識別碼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名稱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自有端是否有設置壓力計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壓力計校正週期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壓力計最近一次校正日期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壓力計最近一次校正結果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自有端是否有設置流量計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流量計型式</a:t>
                      </a:r>
                      <a:r>
                        <a:rPr lang="en-US" altLang="zh-TW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質量</a:t>
                      </a:r>
                      <a:r>
                        <a:rPr lang="en-US" altLang="zh-TW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超音波</a:t>
                      </a:r>
                      <a:r>
                        <a:rPr lang="en-US" altLang="zh-TW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/…)</a:t>
                      </a:r>
                      <a:endParaRPr lang="zh-TW" altLang="en-US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流量計最小精度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流量計校正週期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流量計最近一次校正日期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流量計最近一次校正結果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40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088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056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5065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0" y="404675"/>
            <a:ext cx="6973418" cy="6093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叁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、控制室管理</a:t>
            </a:r>
            <a:endParaRPr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2057400" y="901173"/>
            <a:ext cx="9144000" cy="407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監控中心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續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4"/>
            </a:pP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各管線流量及壓力警報設定上、下限值及依據</a:t>
            </a:r>
            <a:r>
              <a:rPr lang="zh-TW" altLang="en-US" sz="2000" b="1" dirty="0">
                <a:solidFill>
                  <a:srgbClr val="00B05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（列表說明）</a:t>
            </a:r>
            <a:endParaRPr lang="en-US" altLang="zh-TW" sz="2000" b="1" dirty="0">
              <a:solidFill>
                <a:srgbClr val="00B05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6"/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5"/>
            </a:pP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各</a:t>
            </a:r>
            <a:r>
              <a:rPr lang="zh-TW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管線泵送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接收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模式說明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進出節點、壓力流量計位置</a:t>
            </a: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及注意重點</a:t>
            </a: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5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流量及壓力警報發生頻率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與設定範圍之關係探討</a:t>
            </a: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5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有異常情形發生時，其操作流程圖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5"/>
            </a:pP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保壓測試程序、保壓之壓力值及異常警報設定值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無此作業則免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b="1" dirty="0">
              <a:solidFill>
                <a:srgbClr val="00B0F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zh-TW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altLang="zh-TW" smtClean="0"/>
              <a:pPr/>
              <a:t>6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D10741F-2E1D-4814-8464-E3A3C04D5A6D}"/>
              </a:ext>
            </a:extLst>
          </p:cNvPr>
          <p:cNvGraphicFramePr>
            <a:graphicFrameLocks noGrp="1"/>
          </p:cNvGraphicFramePr>
          <p:nvPr/>
        </p:nvGraphicFramePr>
        <p:xfrm>
          <a:off x="1828799" y="1981200"/>
          <a:ext cx="9144001" cy="147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856">
                  <a:extLst>
                    <a:ext uri="{9D8B030D-6E8A-4147-A177-3AD203B41FA5}">
                      <a16:colId xmlns:a16="http://schemas.microsoft.com/office/drawing/2014/main" val="1147236493"/>
                    </a:ext>
                  </a:extLst>
                </a:gridCol>
                <a:gridCol w="1343320">
                  <a:extLst>
                    <a:ext uri="{9D8B030D-6E8A-4147-A177-3AD203B41FA5}">
                      <a16:colId xmlns:a16="http://schemas.microsoft.com/office/drawing/2014/main" val="1693509478"/>
                    </a:ext>
                  </a:extLst>
                </a:gridCol>
                <a:gridCol w="1269765">
                  <a:extLst>
                    <a:ext uri="{9D8B030D-6E8A-4147-A177-3AD203B41FA5}">
                      <a16:colId xmlns:a16="http://schemas.microsoft.com/office/drawing/2014/main" val="1679811458"/>
                    </a:ext>
                  </a:extLst>
                </a:gridCol>
                <a:gridCol w="1269765">
                  <a:extLst>
                    <a:ext uri="{9D8B030D-6E8A-4147-A177-3AD203B41FA5}">
                      <a16:colId xmlns:a16="http://schemas.microsoft.com/office/drawing/2014/main" val="2575217548"/>
                    </a:ext>
                  </a:extLst>
                </a:gridCol>
                <a:gridCol w="1269765">
                  <a:extLst>
                    <a:ext uri="{9D8B030D-6E8A-4147-A177-3AD203B41FA5}">
                      <a16:colId xmlns:a16="http://schemas.microsoft.com/office/drawing/2014/main" val="2305703047"/>
                    </a:ext>
                  </a:extLst>
                </a:gridCol>
                <a:gridCol w="1269765">
                  <a:extLst>
                    <a:ext uri="{9D8B030D-6E8A-4147-A177-3AD203B41FA5}">
                      <a16:colId xmlns:a16="http://schemas.microsoft.com/office/drawing/2014/main" val="339844691"/>
                    </a:ext>
                  </a:extLst>
                </a:gridCol>
                <a:gridCol w="1269765">
                  <a:extLst>
                    <a:ext uri="{9D8B030D-6E8A-4147-A177-3AD203B41FA5}">
                      <a16:colId xmlns:a16="http://schemas.microsoft.com/office/drawing/2014/main" val="30851829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管線識別碼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名稱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負責泵送或接收之控制室名稱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操作壓力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歷史操作壓力變動範圍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(%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或絕對值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起泵至穩態之時間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XX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分鐘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壓力警報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上下限設定值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流量警報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上下限設定值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40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088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663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3132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23208"/>
            <a:ext cx="7886700" cy="60939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叁、控制室管理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2189521" y="1600200"/>
            <a:ext cx="7239000" cy="3429000"/>
          </a:xfrm>
        </p:spPr>
        <p:txBody>
          <a:bodyPr/>
          <a:lstStyle/>
          <a:p>
            <a:pPr>
              <a:lnSpc>
                <a:spcPct val="150000"/>
              </a:lnSpc>
              <a:buFont typeface="+mj-ea"/>
              <a:buAutoNum type="ea1ChtPeriod" startAt="2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操作人員授證與能力</a:t>
            </a:r>
            <a:endParaRPr lang="zh-TW" altLang="en-US" sz="2400" b="1" dirty="0">
              <a:solidFill>
                <a:srgbClr val="00B05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合格操作人員要求及授證程序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操作人員職責要求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操作人員對於轄屬管線的路徑熟悉度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操作班與管線單位之互動機制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操作人員對系統之異常設定及應變之熟悉度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7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18519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23208"/>
            <a:ext cx="7886700" cy="6093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肆、設施管理</a:t>
            </a:r>
            <a:endParaRPr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廠區風險評估介紹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低溫儲槽維護管理說明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氣化設備維護管理說明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卸收設備維護管理說明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3521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73201" y="1724026"/>
            <a:ext cx="10095255" cy="4151841"/>
          </a:xfrm>
        </p:spPr>
        <p:txBody>
          <a:bodyPr>
            <a:normAutofit/>
          </a:bodyPr>
          <a:lstStyle/>
          <a:p>
            <a:pPr marL="12700" marR="5080" indent="-514350">
              <a:lnSpc>
                <a:spcPct val="200000"/>
              </a:lnSpc>
              <a:buFont typeface="+mj-ea"/>
              <a:buAutoNum type="ea1ChtPeriod"/>
            </a:pP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地震後緊急應變處理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流程說明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及執行情形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實例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514350" indent="-514350">
              <a:lnSpc>
                <a:spcPct val="150000"/>
              </a:lnSpc>
              <a:buFont typeface="+mj-ea"/>
              <a:buAutoNum type="ea1ChtPeriod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供氣穩定應變機制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來源氣變動之氣源切轉規劃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操作流程</a:t>
            </a:r>
          </a:p>
        </p:txBody>
      </p:sp>
      <p:sp>
        <p:nvSpPr>
          <p:cNvPr id="5" name="object 2"/>
          <p:cNvSpPr txBox="1">
            <a:spLocks noGrp="1"/>
          </p:cNvSpPr>
          <p:nvPr>
            <p:ph type="title"/>
          </p:nvPr>
        </p:nvSpPr>
        <p:spPr>
          <a:xfrm>
            <a:off x="2152650" y="723208"/>
            <a:ext cx="7886700" cy="6093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伍、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災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害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防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救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執行情況</a:t>
            </a:r>
            <a:endParaRPr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2">
            <a:extLst>
              <a:ext uri="{FF2B5EF4-FFF2-40B4-BE49-F238E27FC236}">
                <a16:creationId xmlns:a16="http://schemas.microsoft.com/office/drawing/2014/main" id="{6D52F8C0-FB4E-45B7-AD0E-F395CB086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9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28597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23208"/>
            <a:ext cx="7886700" cy="6093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伍、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災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害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防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救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執行情況</a:t>
            </a:r>
            <a:endParaRPr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1816474" y="1703216"/>
            <a:ext cx="9537326" cy="4285207"/>
          </a:xfrm>
        </p:spPr>
        <p:txBody>
          <a:bodyPr>
            <a:noAutofit/>
          </a:bodyPr>
          <a:lstStyle/>
          <a:p>
            <a:pPr>
              <a:buFont typeface="+mj-ea"/>
              <a:buAutoNum type="ea1ChtPeriod" startAt="4"/>
            </a:pP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場站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及長途管線洩漏偵測設施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管理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校正週期說明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校正標準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維修、汰換機制說明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+mj-ea"/>
              <a:buAutoNum type="ea1ChtPeriod" startAt="4"/>
            </a:pP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場站洩漏偵測自主檢測執行情況</a:t>
            </a:r>
            <a:endParaRPr lang="en-US" altLang="zh-TW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檢測方法</a:t>
            </a:r>
            <a:endParaRPr lang="en-US" altLang="zh-TW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檢測頻度</a:t>
            </a:r>
            <a:endParaRPr lang="en-US" altLang="zh-TW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檢測範圍</a:t>
            </a:r>
            <a:endParaRPr lang="en-US" altLang="zh-TW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檢測標準</a:t>
            </a:r>
            <a:endParaRPr lang="en-US" altLang="zh-TW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檢測結果</a:t>
            </a:r>
            <a:endParaRPr lang="en-US" altLang="zh-TW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5500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23208"/>
            <a:ext cx="7886700" cy="6093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伍、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災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害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防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救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執行情況</a:t>
            </a:r>
            <a:endParaRPr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1816474" y="1703216"/>
            <a:ext cx="9537326" cy="2868783"/>
          </a:xfrm>
        </p:spPr>
        <p:txBody>
          <a:bodyPr>
            <a:noAutofit/>
          </a:bodyPr>
          <a:lstStyle/>
          <a:p>
            <a:pPr marL="514350" indent="-514350">
              <a:buFont typeface="+mj-ea"/>
              <a:buAutoNum type="ea1ChtPeriod" startAt="6"/>
            </a:pP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洩漏檢測尚未改善完成說明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115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年已檢測者，含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115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11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664D682-FA6E-42A2-B77E-E5144029EE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374497"/>
              </p:ext>
            </p:extLst>
          </p:nvPr>
        </p:nvGraphicFramePr>
        <p:xfrm>
          <a:off x="2346528" y="2595754"/>
          <a:ext cx="8270672" cy="1370674"/>
        </p:xfrm>
        <a:graphic>
          <a:graphicData uri="http://schemas.openxmlformats.org/drawingml/2006/table">
            <a:tbl>
              <a:tblPr firstRow="1" firstCol="1" bandRow="1"/>
              <a:tblGrid>
                <a:gridCol w="555867">
                  <a:extLst>
                    <a:ext uri="{9D8B030D-6E8A-4147-A177-3AD203B41FA5}">
                      <a16:colId xmlns:a16="http://schemas.microsoft.com/office/drawing/2014/main" val="320258615"/>
                    </a:ext>
                  </a:extLst>
                </a:gridCol>
                <a:gridCol w="1070452">
                  <a:extLst>
                    <a:ext uri="{9D8B030D-6E8A-4147-A177-3AD203B41FA5}">
                      <a16:colId xmlns:a16="http://schemas.microsoft.com/office/drawing/2014/main" val="3007859862"/>
                    </a:ext>
                  </a:extLst>
                </a:gridCol>
                <a:gridCol w="1111735">
                  <a:extLst>
                    <a:ext uri="{9D8B030D-6E8A-4147-A177-3AD203B41FA5}">
                      <a16:colId xmlns:a16="http://schemas.microsoft.com/office/drawing/2014/main" val="3240105619"/>
                    </a:ext>
                  </a:extLst>
                </a:gridCol>
                <a:gridCol w="1111735">
                  <a:extLst>
                    <a:ext uri="{9D8B030D-6E8A-4147-A177-3AD203B41FA5}">
                      <a16:colId xmlns:a16="http://schemas.microsoft.com/office/drawing/2014/main" val="1436798686"/>
                    </a:ext>
                  </a:extLst>
                </a:gridCol>
                <a:gridCol w="1111735">
                  <a:extLst>
                    <a:ext uri="{9D8B030D-6E8A-4147-A177-3AD203B41FA5}">
                      <a16:colId xmlns:a16="http://schemas.microsoft.com/office/drawing/2014/main" val="4006767415"/>
                    </a:ext>
                  </a:extLst>
                </a:gridCol>
                <a:gridCol w="1757687">
                  <a:extLst>
                    <a:ext uri="{9D8B030D-6E8A-4147-A177-3AD203B41FA5}">
                      <a16:colId xmlns:a16="http://schemas.microsoft.com/office/drawing/2014/main" val="2107366624"/>
                    </a:ext>
                  </a:extLst>
                </a:gridCol>
                <a:gridCol w="1551461">
                  <a:extLst>
                    <a:ext uri="{9D8B030D-6E8A-4147-A177-3AD203B41FA5}">
                      <a16:colId xmlns:a16="http://schemas.microsoft.com/office/drawing/2014/main" val="28401042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序號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站場名稱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檢測日期</a:t>
                      </a:r>
                      <a:endParaRPr lang="en-US" alt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lang="en-US" alt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r>
                        <a:rPr lang="en-US" alt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日</a:t>
                      </a:r>
                      <a:r>
                        <a:rPr lang="en-US" alt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洩漏位置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洩漏源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甲烷濃度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改善情形說明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尚未改善完成前之防護措施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222941"/>
                  </a:ext>
                </a:extLst>
              </a:tr>
              <a:tr h="25861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</a:t>
                      </a:r>
                      <a:r>
                        <a:rPr lang="zh-TW" alt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配氣站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113/XX/XX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xx%LEL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xxxxx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ppm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6540706"/>
                  </a:ext>
                </a:extLst>
              </a:tr>
              <a:tr h="25861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4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317672"/>
                  </a:ext>
                </a:extLst>
              </a:tr>
              <a:tr h="25861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4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176647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BA0A503B-9813-4F10-B647-2888AD515F22}"/>
              </a:ext>
            </a:extLst>
          </p:cNvPr>
          <p:cNvSpPr txBox="1"/>
          <p:nvPr/>
        </p:nvSpPr>
        <p:spPr>
          <a:xfrm>
            <a:off x="2001067" y="4864009"/>
            <a:ext cx="9537325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r>
              <a:rPr lang="zh-TW" altLang="en-US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前一年</a:t>
            </a:r>
            <a:r>
              <a:rPr lang="en-US" altLang="zh-TW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(114)</a:t>
            </a:r>
            <a:r>
              <a:rPr lang="zh-TW" altLang="en-US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以前洩漏檢測尚未改善完成處，將列入</a:t>
            </a:r>
            <a:r>
              <a:rPr lang="en-US" altLang="zh-TW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115</a:t>
            </a:r>
            <a:r>
              <a:rPr lang="zh-TW" altLang="en-US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年查核建議，以利追蹤</a:t>
            </a:r>
            <a:r>
              <a:rPr lang="en-US" altLang="zh-TW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endParaRPr lang="zh-TW" altLang="en-US" sz="2000" b="1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02302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138781" y="524963"/>
            <a:ext cx="8323656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9685">
              <a:lnSpc>
                <a:spcPct val="100000"/>
              </a:lnSpc>
            </a:pPr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陸</a:t>
            </a:r>
            <a:r>
              <a:rPr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事故學習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12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308718"/>
              </p:ext>
            </p:extLst>
          </p:nvPr>
        </p:nvGraphicFramePr>
        <p:xfrm>
          <a:off x="2138781" y="1934278"/>
          <a:ext cx="8422434" cy="4279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4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4701">
                  <a:extLst>
                    <a:ext uri="{9D8B030D-6E8A-4147-A177-3AD203B41FA5}">
                      <a16:colId xmlns:a16="http://schemas.microsoft.com/office/drawing/2014/main" val="3882689401"/>
                    </a:ext>
                  </a:extLst>
                </a:gridCol>
                <a:gridCol w="1264701">
                  <a:extLst>
                    <a:ext uri="{9D8B030D-6E8A-4147-A177-3AD203B41FA5}">
                      <a16:colId xmlns:a16="http://schemas.microsoft.com/office/drawing/2014/main" val="1463977310"/>
                    </a:ext>
                  </a:extLst>
                </a:gridCol>
                <a:gridCol w="12647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18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599">
                <a:tc gridSpan="6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一、虛驚事故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事故日期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間接原因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直接原因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根本</a:t>
                      </a: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檢討改善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599">
                <a:tc gridSpan="6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二、作業事故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事故日期</a:t>
                      </a:r>
                      <a:endParaRPr lang="zh-TW" altLang="zh-TW" sz="1800" kern="100" spc="-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間接原因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直接原因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根本</a:t>
                      </a:r>
                      <a:r>
                        <a:rPr lang="zh-TW" alt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原因</a:t>
                      </a:r>
                      <a:endParaRPr lang="zh-TW" alt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檢討改善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object 2">
            <a:extLst>
              <a:ext uri="{FF2B5EF4-FFF2-40B4-BE49-F238E27FC236}">
                <a16:creationId xmlns:a16="http://schemas.microsoft.com/office/drawing/2014/main" id="{53DC06F2-4034-43AD-8EA0-C42B8F7EB89E}"/>
              </a:ext>
            </a:extLst>
          </p:cNvPr>
          <p:cNvSpPr txBox="1">
            <a:spLocks/>
          </p:cNvSpPr>
          <p:nvPr/>
        </p:nvSpPr>
        <p:spPr>
          <a:xfrm>
            <a:off x="2286001" y="1352731"/>
            <a:ext cx="8422434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ea typeface="+mj-ea"/>
                <a:cs typeface="標楷體"/>
              </a:defRPr>
            </a:lvl1pPr>
          </a:lstStyle>
          <a:p>
            <a:pPr marL="762635" indent="-742950">
              <a:buFont typeface="+mj-ea"/>
              <a:buAutoNum type="ea1ChtPeriod"/>
            </a:pPr>
            <a:r>
              <a:rPr lang="zh-TW" altLang="en-US" sz="2400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受查單位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近</a:t>
            </a:r>
            <a:r>
              <a:rPr lang="en-US" altLang="zh-TW" sz="2400" kern="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(112-</a:t>
            </a:r>
            <a:r>
              <a:rPr lang="zh-TW" altLang="en-US" sz="2400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迄今</a:t>
            </a:r>
            <a:r>
              <a:rPr lang="en-US" altLang="zh-TW" sz="2400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kern="0" spc="-2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故分析</a:t>
            </a:r>
            <a:r>
              <a:rPr lang="zh-TW" altLang="en-US" sz="2400" kern="0" spc="-2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討</a:t>
            </a:r>
            <a:r>
              <a:rPr lang="zh-TW" altLang="en-US" sz="2400" kern="0" spc="-2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改善情形</a:t>
            </a:r>
          </a:p>
        </p:txBody>
      </p:sp>
    </p:spTree>
    <p:extLst>
      <p:ext uri="{BB962C8B-B14F-4D97-AF65-F5344CB8AC3E}">
        <p14:creationId xmlns:p14="http://schemas.microsoft.com/office/powerpoint/2010/main" val="2476093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717090" y="572813"/>
            <a:ext cx="8986769" cy="5710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9685"/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陸</a:t>
            </a:r>
            <a:r>
              <a:rPr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事故學習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4003"/>
              </p:ext>
            </p:extLst>
          </p:nvPr>
        </p:nvGraphicFramePr>
        <p:xfrm>
          <a:off x="1900518" y="2205259"/>
          <a:ext cx="8946776" cy="2139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4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4065">
                  <a:extLst>
                    <a:ext uri="{9D8B030D-6E8A-4147-A177-3AD203B41FA5}">
                      <a16:colId xmlns:a16="http://schemas.microsoft.com/office/drawing/2014/main" val="454378155"/>
                    </a:ext>
                  </a:extLst>
                </a:gridCol>
                <a:gridCol w="2239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9323">
                  <a:extLst>
                    <a:ext uri="{9D8B030D-6E8A-4147-A177-3AD203B41FA5}">
                      <a16:colId xmlns:a16="http://schemas.microsoft.com/office/drawing/2014/main" val="3882689401"/>
                    </a:ext>
                  </a:extLst>
                </a:gridCol>
              </a:tblGrid>
              <a:tr h="418599">
                <a:tc grid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一、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作業</a:t>
                      </a: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事故日期</a:t>
                      </a:r>
                      <a:endParaRPr lang="zh-TW" alt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事故單位名稱</a:t>
                      </a:r>
                      <a:endParaRPr lang="zh-TW" alt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名稱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13</a:t>
            </a:fld>
            <a:endParaRPr lang="zh-TW" alt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53DC06F2-4034-43AD-8EA0-C42B8F7EB89E}"/>
              </a:ext>
            </a:extLst>
          </p:cNvPr>
          <p:cNvSpPr txBox="1">
            <a:spLocks/>
          </p:cNvSpPr>
          <p:nvPr/>
        </p:nvSpPr>
        <p:spPr>
          <a:xfrm>
            <a:off x="1717090" y="1489908"/>
            <a:ext cx="936223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ea typeface="+mj-ea"/>
                <a:cs typeface="標楷體"/>
              </a:defRPr>
            </a:lvl1pPr>
          </a:lstStyle>
          <a:p>
            <a:pPr marL="762635" indent="-742950">
              <a:buFont typeface="+mj-ea"/>
              <a:buAutoNum type="ea1ChtPeriod" startAt="2"/>
            </a:pPr>
            <a:r>
              <a:rPr lang="en-US" altLang="zh-TW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114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年度公司其他單位輸儲設施</a:t>
            </a:r>
            <a:r>
              <a:rPr lang="en-US" altLang="zh-TW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包含石油管線</a:t>
            </a:r>
            <a:r>
              <a:rPr lang="en-US" altLang="zh-TW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事故列表</a:t>
            </a:r>
          </a:p>
        </p:txBody>
      </p:sp>
    </p:spTree>
    <p:extLst>
      <p:ext uri="{BB962C8B-B14F-4D97-AF65-F5344CB8AC3E}">
        <p14:creationId xmlns:p14="http://schemas.microsoft.com/office/powerpoint/2010/main" val="2916400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506979" y="541909"/>
            <a:ext cx="9381153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9685"/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陸</a:t>
            </a:r>
            <a:r>
              <a:rPr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事故學習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638156"/>
              </p:ext>
            </p:extLst>
          </p:nvPr>
        </p:nvGraphicFramePr>
        <p:xfrm>
          <a:off x="1541391" y="2438401"/>
          <a:ext cx="9346741" cy="2139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8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8283">
                  <a:extLst>
                    <a:ext uri="{9D8B030D-6E8A-4147-A177-3AD203B41FA5}">
                      <a16:colId xmlns:a16="http://schemas.microsoft.com/office/drawing/2014/main" val="2227324022"/>
                    </a:ext>
                  </a:extLst>
                </a:gridCol>
                <a:gridCol w="165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2163">
                  <a:extLst>
                    <a:ext uri="{9D8B030D-6E8A-4147-A177-3AD203B41FA5}">
                      <a16:colId xmlns:a16="http://schemas.microsoft.com/office/drawing/2014/main" val="3882689401"/>
                    </a:ext>
                  </a:extLst>
                </a:gridCol>
                <a:gridCol w="27458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599">
                <a:tc grid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一、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作業</a:t>
                      </a: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事故日期</a:t>
                      </a:r>
                      <a:endParaRPr lang="zh-TW" alt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事故單位名稱</a:t>
                      </a:r>
                      <a:endParaRPr lang="zh-TW" alt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名稱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平行展開作為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14</a:t>
            </a:fld>
            <a:endParaRPr lang="zh-TW" alt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53DC06F2-4034-43AD-8EA0-C42B8F7EB89E}"/>
              </a:ext>
            </a:extLst>
          </p:cNvPr>
          <p:cNvSpPr txBox="1">
            <a:spLocks/>
          </p:cNvSpPr>
          <p:nvPr/>
        </p:nvSpPr>
        <p:spPr>
          <a:xfrm>
            <a:off x="1541392" y="1524000"/>
            <a:ext cx="986531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ea typeface="+mj-ea"/>
                <a:cs typeface="標楷體"/>
              </a:defRPr>
            </a:lvl1pPr>
          </a:lstStyle>
          <a:p>
            <a:pPr marL="762635" indent="-742950">
              <a:buFont typeface="+mj-ea"/>
              <a:buAutoNum type="ea1ChtPeriod" startAt="3"/>
            </a:pPr>
            <a:r>
              <a:rPr lang="en-US" altLang="zh-TW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114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年度公司其他單位輸儲設施事故，</a:t>
            </a:r>
            <a:r>
              <a:rPr lang="zh-TW" altLang="en-US" sz="2400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受查單位有平行展開者請列表</a:t>
            </a:r>
          </a:p>
        </p:txBody>
      </p:sp>
    </p:spTree>
    <p:extLst>
      <p:ext uri="{BB962C8B-B14F-4D97-AF65-F5344CB8AC3E}">
        <p14:creationId xmlns:p14="http://schemas.microsoft.com/office/powerpoint/2010/main" val="4061000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2209800" y="561308"/>
            <a:ext cx="6973418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柒、自主管理落實度</a:t>
            </a:r>
            <a:endParaRPr sz="4000"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2234381" y="1402314"/>
            <a:ext cx="8343972" cy="1053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一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液化天然氣廠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天然氣輸儲設備</a:t>
            </a:r>
            <a:r>
              <a:rPr kumimoji="0" lang="zh-HK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內部稽核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904875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最近一次液化天然氣廠</a:t>
            </a:r>
            <a:r>
              <a:rPr lang="zh-TW" altLang="en-US" sz="20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天然氣輸儲設備</a:t>
            </a: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內部稽核執行結果說明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16406D6-50FB-4972-82D2-787CC90A0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664454"/>
              </p:ext>
            </p:extLst>
          </p:nvPr>
        </p:nvGraphicFramePr>
        <p:xfrm>
          <a:off x="2585797" y="2743201"/>
          <a:ext cx="7020409" cy="2362201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676581">
                  <a:extLst>
                    <a:ext uri="{9D8B030D-6E8A-4147-A177-3AD203B41FA5}">
                      <a16:colId xmlns:a16="http://schemas.microsoft.com/office/drawing/2014/main" val="82374763"/>
                    </a:ext>
                  </a:extLst>
                </a:gridCol>
                <a:gridCol w="1854154">
                  <a:extLst>
                    <a:ext uri="{9D8B030D-6E8A-4147-A177-3AD203B41FA5}">
                      <a16:colId xmlns:a16="http://schemas.microsoft.com/office/drawing/2014/main" val="3261849221"/>
                    </a:ext>
                  </a:extLst>
                </a:gridCol>
                <a:gridCol w="1854154">
                  <a:extLst>
                    <a:ext uri="{9D8B030D-6E8A-4147-A177-3AD203B41FA5}">
                      <a16:colId xmlns:a16="http://schemas.microsoft.com/office/drawing/2014/main" val="3796810848"/>
                    </a:ext>
                  </a:extLst>
                </a:gridCol>
                <a:gridCol w="2635520">
                  <a:extLst>
                    <a:ext uri="{9D8B030D-6E8A-4147-A177-3AD203B41FA5}">
                      <a16:colId xmlns:a16="http://schemas.microsoft.com/office/drawing/2014/main" val="3822681332"/>
                    </a:ext>
                  </a:extLst>
                </a:gridCol>
              </a:tblGrid>
              <a:tr h="4970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日期</a:t>
                      </a:r>
                      <a:endParaRPr lang="zh-TW" sz="2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600" b="1" kern="0" dirty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執行單位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600" b="1" kern="0" dirty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稽核缺失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缺失改善執行狀況</a:t>
                      </a:r>
                      <a:endParaRPr lang="zh-TW" sz="2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31636447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2867621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13048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3653968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262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3767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07436" y="609600"/>
            <a:ext cx="8003364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3600" spc="5" dirty="0">
                <a:solidFill>
                  <a:prstClr val="black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捌</a:t>
            </a:r>
            <a:r>
              <a:rPr kumimoji="0" sz="36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標楷體"/>
                <a:ea typeface="+mn-ea"/>
                <a:cs typeface="標楷體"/>
              </a:rPr>
              <a:t>、</a:t>
            </a:r>
            <a:r>
              <a:rPr kumimoji="0" lang="zh-TW" altLang="en-US" sz="36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歷年查核建議之尚未改善完成說明</a:t>
            </a:r>
            <a:endParaRPr kumimoji="0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標楷體"/>
              <a:ea typeface="+mn-ea"/>
              <a:cs typeface="標楷體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057401" y="2667000"/>
          <a:ext cx="7976783" cy="356607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82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2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9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58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30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4462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項目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分類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編號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查核結果及建議事項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事業單位回覆及辦理情形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改善期程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(</a:t>
                      </a: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請填日期</a:t>
                      </a:r>
                      <a:r>
                        <a:rPr lang="en-US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)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altLang="zh-TW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58604E9-6E8B-45BC-823B-1A2C9B5CB678}"/>
              </a:ext>
            </a:extLst>
          </p:cNvPr>
          <p:cNvSpPr txBox="1"/>
          <p:nvPr/>
        </p:nvSpPr>
        <p:spPr>
          <a:xfrm>
            <a:off x="1673106" y="1499801"/>
            <a:ext cx="90075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列出最近一次收到正式公文尚未改善完成之查核建議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查核當天簡報不須報告本項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，資料供查核委員參照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委員可提問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kumimoji="0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1809</TotalTime>
  <Words>865</Words>
  <Application>Microsoft Office PowerPoint</Application>
  <PresentationFormat>寬螢幕</PresentationFormat>
  <Paragraphs>185</Paragraphs>
  <Slides>16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16</vt:i4>
      </vt:variant>
    </vt:vector>
  </HeadingPairs>
  <TitlesOfParts>
    <vt:vector size="25" baseType="lpstr">
      <vt:lpstr>標楷體</vt:lpstr>
      <vt:lpstr>Arial</vt:lpstr>
      <vt:lpstr>Calibri</vt:lpstr>
      <vt:lpstr>Calibri Light</vt:lpstr>
      <vt:lpstr>Times New Roman</vt:lpstr>
      <vt:lpstr>Wingdings</vt:lpstr>
      <vt:lpstr>Office 佈景主題</vt:lpstr>
      <vt:lpstr>1_Office 佈景主題</vt:lpstr>
      <vt:lpstr>Office Theme</vt:lpstr>
      <vt:lpstr>115年度 天然氣生產進口事業輸儲設備查核 天然氣事業部○○液化天然氣廠</vt:lpstr>
      <vt:lpstr>大綱</vt:lpstr>
      <vt:lpstr>壹、事業單位之基本資料</vt:lpstr>
      <vt:lpstr>貳、管線管理</vt:lpstr>
      <vt:lpstr>叁、控制室管理</vt:lpstr>
      <vt:lpstr>叁、控制室管理</vt:lpstr>
      <vt:lpstr>叁、控制室管理</vt:lpstr>
      <vt:lpstr>肆、設施管理</vt:lpstr>
      <vt:lpstr>伍、災害防救執行情況</vt:lpstr>
      <vt:lpstr>伍、災害防救執行情況</vt:lpstr>
      <vt:lpstr>伍、災害防救執行情況</vt:lpstr>
      <vt:lpstr>陸、事故學習</vt:lpstr>
      <vt:lpstr>陸、事故學習</vt:lpstr>
      <vt:lpstr>陸、事故學習</vt:lpstr>
      <vt:lpstr>柒、自主管理落實度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110年度 天然氣生產進口事業輸儲設備查核 天然氣(探採)事業部○○○○(液化天然氣廠、供氣中心、處理廠)</dc:title>
  <dc:creator>林素玉</dc:creator>
  <cp:lastModifiedBy>林素玉</cp:lastModifiedBy>
  <cp:revision>88</cp:revision>
  <dcterms:created xsi:type="dcterms:W3CDTF">2021-02-19T07:56:45Z</dcterms:created>
  <dcterms:modified xsi:type="dcterms:W3CDTF">2026-02-10T14:34:22Z</dcterms:modified>
</cp:coreProperties>
</file>