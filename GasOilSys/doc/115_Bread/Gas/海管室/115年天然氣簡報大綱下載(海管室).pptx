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60" r:id="rId4"/>
    <p:sldId id="284" r:id="rId5"/>
    <p:sldId id="286" r:id="rId6"/>
    <p:sldId id="289" r:id="rId7"/>
    <p:sldId id="285" r:id="rId8"/>
    <p:sldId id="300" r:id="rId9"/>
    <p:sldId id="290" r:id="rId10"/>
    <p:sldId id="287" r:id="rId11"/>
    <p:sldId id="301" r:id="rId12"/>
    <p:sldId id="288" r:id="rId13"/>
    <p:sldId id="269" r:id="rId14"/>
    <p:sldId id="264" r:id="rId15"/>
    <p:sldId id="271" r:id="rId16"/>
    <p:sldId id="280" r:id="rId17"/>
    <p:sldId id="282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94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87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06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920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3106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999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683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63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3202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4036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411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9708" y="555740"/>
            <a:ext cx="1055258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cs typeface="標楷體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8146-4C1D-41FE-BF5E-1D7867AC1B13}" type="datetime1">
              <a:rPr lang="en-US" altLang="zh-TW" smtClean="0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72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F4C2D-478A-4501-96EA-279980EC5FE3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B13E-3856-42F5-A3AC-CB9EF05E0E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83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</a:t>
            </a: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天然氣生產進口事業輸儲設備查核</a:t>
            </a:r>
            <a:br>
              <a:rPr lang="zh-TW" altLang="zh-TW" sz="3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天然氣事業部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海管室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667000" y="4433311"/>
            <a:ext cx="6858000" cy="1655762"/>
          </a:xfrm>
        </p:spPr>
        <p:txBody>
          <a:bodyPr/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報告人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○○○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115/xx/xx</a:t>
            </a:r>
            <a:endParaRPr lang="zh-TW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25773" y="476023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附件</a:t>
            </a:r>
            <a:r>
              <a:rPr lang="en-US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8314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844964" y="355889"/>
            <a:ext cx="7243618" cy="1325563"/>
          </a:xfrm>
        </p:spPr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大綱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71072" y="1825625"/>
            <a:ext cx="8647545" cy="3808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壹、事業單位之基本資料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貳、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管線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管理</a:t>
            </a:r>
          </a:p>
          <a:p>
            <a:pPr marL="0" indent="0">
              <a:buNone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參、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控制室管理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肆、災害防救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伍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事故學習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陸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自主管理落實度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柒、</a:t>
            </a:r>
            <a:r>
              <a:rPr lang="zh-TW" altLang="en-US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70038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壹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、事業單位之基本資料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ea"/>
              <a:buAutoNum type="ea1ChtPeriod"/>
            </a:pP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製程單元或輸儲流程</a:t>
            </a:r>
          </a:p>
        </p:txBody>
      </p:sp>
    </p:spTree>
    <p:extLst>
      <p:ext uri="{BB962C8B-B14F-4D97-AF65-F5344CB8AC3E}">
        <p14:creationId xmlns:p14="http://schemas.microsoft.com/office/powerpoint/2010/main" val="249318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39022"/>
            <a:ext cx="7886700" cy="2700469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海床檢測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海管裸露懸空狀況檢測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海管掩埋狀況檢測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海床、地質狀況檢測及探勘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4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</p:spTree>
    <p:extLst>
      <p:ext uri="{BB962C8B-B14F-4D97-AF65-F5344CB8AC3E}">
        <p14:creationId xmlns:p14="http://schemas.microsoft.com/office/powerpoint/2010/main" val="259966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39023"/>
            <a:ext cx="7886700" cy="3337778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 startAt="2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風險評估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所有管線</a:t>
            </a:r>
            <a:r>
              <a:rPr lang="en-US" altLang="zh-TW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kumimoji="1"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arenR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評估結果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arenR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arenR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arenR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buFont typeface="+mj-lt"/>
              <a:buAutoNum type="arabicParenR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buFont typeface="+mj-lt"/>
              <a:buAutoNum type="arabicParenR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中、高風險管段緩降措施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5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F02DDE0-C2FC-4A6C-A607-67103FFED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107862"/>
              </p:ext>
            </p:extLst>
          </p:nvPr>
        </p:nvGraphicFramePr>
        <p:xfrm>
          <a:off x="2833524" y="3194650"/>
          <a:ext cx="786305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042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1382220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969281977"/>
                    </a:ext>
                  </a:extLst>
                </a:gridCol>
                <a:gridCol w="1153620">
                  <a:extLst>
                    <a:ext uri="{9D8B030D-6E8A-4147-A177-3AD203B41FA5}">
                      <a16:colId xmlns:a16="http://schemas.microsoft.com/office/drawing/2014/main" val="2008436781"/>
                    </a:ext>
                  </a:extLst>
                </a:gridCol>
                <a:gridCol w="1047749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33260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已評估完成</a:t>
                      </a:r>
                      <a:endParaRPr lang="en-US" altLang="zh-TW" sz="1600" b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管段總數量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低風險管段數量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高風險管段數量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192559"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3B1AAB-B92F-46A9-9EDB-14B6F7C2A4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211223"/>
              </p:ext>
            </p:extLst>
          </p:nvPr>
        </p:nvGraphicFramePr>
        <p:xfrm>
          <a:off x="2152650" y="4876801"/>
          <a:ext cx="9351871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8987">
                  <a:extLst>
                    <a:ext uri="{9D8B030D-6E8A-4147-A177-3AD203B41FA5}">
                      <a16:colId xmlns:a16="http://schemas.microsoft.com/office/drawing/2014/main" val="3978550119"/>
                    </a:ext>
                  </a:extLst>
                </a:gridCol>
                <a:gridCol w="2207430">
                  <a:extLst>
                    <a:ext uri="{9D8B030D-6E8A-4147-A177-3AD203B41FA5}">
                      <a16:colId xmlns:a16="http://schemas.microsoft.com/office/drawing/2014/main" val="1685265338"/>
                    </a:ext>
                  </a:extLst>
                </a:gridCol>
                <a:gridCol w="2207430">
                  <a:extLst>
                    <a:ext uri="{9D8B030D-6E8A-4147-A177-3AD203B41FA5}">
                      <a16:colId xmlns:a16="http://schemas.microsoft.com/office/drawing/2014/main" val="2292170237"/>
                    </a:ext>
                  </a:extLst>
                </a:gridCol>
                <a:gridCol w="2106029">
                  <a:extLst>
                    <a:ext uri="{9D8B030D-6E8A-4147-A177-3AD203B41FA5}">
                      <a16:colId xmlns:a16="http://schemas.microsoft.com/office/drawing/2014/main" val="2462298306"/>
                    </a:ext>
                  </a:extLst>
                </a:gridCol>
                <a:gridCol w="951995">
                  <a:extLst>
                    <a:ext uri="{9D8B030D-6E8A-4147-A177-3AD203B41FA5}">
                      <a16:colId xmlns:a16="http://schemas.microsoft.com/office/drawing/2014/main" val="3850264439"/>
                    </a:ext>
                  </a:extLst>
                </a:gridCol>
              </a:tblGrid>
              <a:tr h="49214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管線識別碼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中、高風險管段位置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造成高風險之</a:t>
                      </a:r>
                      <a:endParaRPr lang="en-US" altLang="zh-TW" sz="1600" b="0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主要因子</a:t>
                      </a:r>
                      <a:endParaRPr lang="zh-TW" altLang="en-US" sz="1600" b="0" dirty="0">
                        <a:solidFill>
                          <a:srgbClr val="0000FF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kern="12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緩降措施</a:t>
                      </a:r>
                      <a:endParaRPr lang="zh-TW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31290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378405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8070101XXXX2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032854"/>
                  </a:ext>
                </a:extLst>
              </a:tr>
              <a:tr h="2909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8070101XXXX3</a:t>
                      </a:r>
                      <a:endParaRPr kumimoji="0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37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71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416854"/>
            <a:ext cx="7886700" cy="1446174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600"/>
              </a:spcBef>
              <a:buFont typeface="+mj-lt"/>
              <a:buAutoNum type="arabicPeriod" startAt="3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海底管線檢測維護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2" indent="0">
              <a:spcBef>
                <a:spcPts val="600"/>
              </a:spcBef>
              <a:buNone/>
            </a:pPr>
            <a:r>
              <a:rPr lang="en-US" altLang="zh-TW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異常點統計表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DB41855-4625-41FF-BE0A-17999204F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793497"/>
              </p:ext>
            </p:extLst>
          </p:nvPr>
        </p:nvGraphicFramePr>
        <p:xfrm>
          <a:off x="646395" y="2969298"/>
          <a:ext cx="11395878" cy="2536204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133971">
                  <a:extLst>
                    <a:ext uri="{9D8B030D-6E8A-4147-A177-3AD203B41FA5}">
                      <a16:colId xmlns:a16="http://schemas.microsoft.com/office/drawing/2014/main" val="2075771783"/>
                    </a:ext>
                  </a:extLst>
                </a:gridCol>
                <a:gridCol w="443125">
                  <a:extLst>
                    <a:ext uri="{9D8B030D-6E8A-4147-A177-3AD203B41FA5}">
                      <a16:colId xmlns:a16="http://schemas.microsoft.com/office/drawing/2014/main" val="662857452"/>
                    </a:ext>
                  </a:extLst>
                </a:gridCol>
                <a:gridCol w="564352">
                  <a:extLst>
                    <a:ext uri="{9D8B030D-6E8A-4147-A177-3AD203B41FA5}">
                      <a16:colId xmlns:a16="http://schemas.microsoft.com/office/drawing/2014/main" val="118332061"/>
                    </a:ext>
                  </a:extLst>
                </a:gridCol>
                <a:gridCol w="449569">
                  <a:extLst>
                    <a:ext uri="{9D8B030D-6E8A-4147-A177-3AD203B41FA5}">
                      <a16:colId xmlns:a16="http://schemas.microsoft.com/office/drawing/2014/main" val="2735467087"/>
                    </a:ext>
                  </a:extLst>
                </a:gridCol>
                <a:gridCol w="401743">
                  <a:extLst>
                    <a:ext uri="{9D8B030D-6E8A-4147-A177-3AD203B41FA5}">
                      <a16:colId xmlns:a16="http://schemas.microsoft.com/office/drawing/2014/main" val="902292947"/>
                    </a:ext>
                  </a:extLst>
                </a:gridCol>
                <a:gridCol w="248697">
                  <a:extLst>
                    <a:ext uri="{9D8B030D-6E8A-4147-A177-3AD203B41FA5}">
                      <a16:colId xmlns:a16="http://schemas.microsoft.com/office/drawing/2014/main" val="3553550980"/>
                    </a:ext>
                  </a:extLst>
                </a:gridCol>
                <a:gridCol w="388534">
                  <a:extLst>
                    <a:ext uri="{9D8B030D-6E8A-4147-A177-3AD203B41FA5}">
                      <a16:colId xmlns:a16="http://schemas.microsoft.com/office/drawing/2014/main" val="28591479"/>
                    </a:ext>
                  </a:extLst>
                </a:gridCol>
                <a:gridCol w="233212">
                  <a:extLst>
                    <a:ext uri="{9D8B030D-6E8A-4147-A177-3AD203B41FA5}">
                      <a16:colId xmlns:a16="http://schemas.microsoft.com/office/drawing/2014/main" val="2897539864"/>
                    </a:ext>
                  </a:extLst>
                </a:gridCol>
                <a:gridCol w="394006">
                  <a:extLst>
                    <a:ext uri="{9D8B030D-6E8A-4147-A177-3AD203B41FA5}">
                      <a16:colId xmlns:a16="http://schemas.microsoft.com/office/drawing/2014/main" val="324269345"/>
                    </a:ext>
                  </a:extLst>
                </a:gridCol>
                <a:gridCol w="256434">
                  <a:extLst>
                    <a:ext uri="{9D8B030D-6E8A-4147-A177-3AD203B41FA5}">
                      <a16:colId xmlns:a16="http://schemas.microsoft.com/office/drawing/2014/main" val="2851588527"/>
                    </a:ext>
                  </a:extLst>
                </a:gridCol>
                <a:gridCol w="371587">
                  <a:extLst>
                    <a:ext uri="{9D8B030D-6E8A-4147-A177-3AD203B41FA5}">
                      <a16:colId xmlns:a16="http://schemas.microsoft.com/office/drawing/2014/main" val="4117485428"/>
                    </a:ext>
                  </a:extLst>
                </a:gridCol>
                <a:gridCol w="250158">
                  <a:extLst>
                    <a:ext uri="{9D8B030D-6E8A-4147-A177-3AD203B41FA5}">
                      <a16:colId xmlns:a16="http://schemas.microsoft.com/office/drawing/2014/main" val="2275322054"/>
                    </a:ext>
                  </a:extLst>
                </a:gridCol>
                <a:gridCol w="377059">
                  <a:extLst>
                    <a:ext uri="{9D8B030D-6E8A-4147-A177-3AD203B41FA5}">
                      <a16:colId xmlns:a16="http://schemas.microsoft.com/office/drawing/2014/main" val="3800979750"/>
                    </a:ext>
                  </a:extLst>
                </a:gridCol>
                <a:gridCol w="235119">
                  <a:extLst>
                    <a:ext uri="{9D8B030D-6E8A-4147-A177-3AD203B41FA5}">
                      <a16:colId xmlns:a16="http://schemas.microsoft.com/office/drawing/2014/main" val="3088943753"/>
                    </a:ext>
                  </a:extLst>
                </a:gridCol>
                <a:gridCol w="392902">
                  <a:extLst>
                    <a:ext uri="{9D8B030D-6E8A-4147-A177-3AD203B41FA5}">
                      <a16:colId xmlns:a16="http://schemas.microsoft.com/office/drawing/2014/main" val="1360043500"/>
                    </a:ext>
                  </a:extLst>
                </a:gridCol>
                <a:gridCol w="291957">
                  <a:extLst>
                    <a:ext uri="{9D8B030D-6E8A-4147-A177-3AD203B41FA5}">
                      <a16:colId xmlns:a16="http://schemas.microsoft.com/office/drawing/2014/main" val="1351901446"/>
                    </a:ext>
                  </a:extLst>
                </a:gridCol>
                <a:gridCol w="388265">
                  <a:extLst>
                    <a:ext uri="{9D8B030D-6E8A-4147-A177-3AD203B41FA5}">
                      <a16:colId xmlns:a16="http://schemas.microsoft.com/office/drawing/2014/main" val="2620890868"/>
                    </a:ext>
                  </a:extLst>
                </a:gridCol>
                <a:gridCol w="350150">
                  <a:extLst>
                    <a:ext uri="{9D8B030D-6E8A-4147-A177-3AD203B41FA5}">
                      <a16:colId xmlns:a16="http://schemas.microsoft.com/office/drawing/2014/main" val="2048013035"/>
                    </a:ext>
                  </a:extLst>
                </a:gridCol>
                <a:gridCol w="375003">
                  <a:extLst>
                    <a:ext uri="{9D8B030D-6E8A-4147-A177-3AD203B41FA5}">
                      <a16:colId xmlns:a16="http://schemas.microsoft.com/office/drawing/2014/main" val="2008008067"/>
                    </a:ext>
                  </a:extLst>
                </a:gridCol>
                <a:gridCol w="568220">
                  <a:extLst>
                    <a:ext uri="{9D8B030D-6E8A-4147-A177-3AD203B41FA5}">
                      <a16:colId xmlns:a16="http://schemas.microsoft.com/office/drawing/2014/main" val="1356746092"/>
                    </a:ext>
                  </a:extLst>
                </a:gridCol>
                <a:gridCol w="339365">
                  <a:extLst>
                    <a:ext uri="{9D8B030D-6E8A-4147-A177-3AD203B41FA5}">
                      <a16:colId xmlns:a16="http://schemas.microsoft.com/office/drawing/2014/main" val="1327484355"/>
                    </a:ext>
                  </a:extLst>
                </a:gridCol>
                <a:gridCol w="584461">
                  <a:extLst>
                    <a:ext uri="{9D8B030D-6E8A-4147-A177-3AD203B41FA5}">
                      <a16:colId xmlns:a16="http://schemas.microsoft.com/office/drawing/2014/main" val="837787993"/>
                    </a:ext>
                  </a:extLst>
                </a:gridCol>
                <a:gridCol w="537421">
                  <a:extLst>
                    <a:ext uri="{9D8B030D-6E8A-4147-A177-3AD203B41FA5}">
                      <a16:colId xmlns:a16="http://schemas.microsoft.com/office/drawing/2014/main" val="4085277663"/>
                    </a:ext>
                  </a:extLst>
                </a:gridCol>
                <a:gridCol w="414687">
                  <a:extLst>
                    <a:ext uri="{9D8B030D-6E8A-4147-A177-3AD203B41FA5}">
                      <a16:colId xmlns:a16="http://schemas.microsoft.com/office/drawing/2014/main" val="976377882"/>
                    </a:ext>
                  </a:extLst>
                </a:gridCol>
                <a:gridCol w="530655">
                  <a:extLst>
                    <a:ext uri="{9D8B030D-6E8A-4147-A177-3AD203B41FA5}">
                      <a16:colId xmlns:a16="http://schemas.microsoft.com/office/drawing/2014/main" val="570576512"/>
                    </a:ext>
                  </a:extLst>
                </a:gridCol>
                <a:gridCol w="382613">
                  <a:extLst>
                    <a:ext uri="{9D8B030D-6E8A-4147-A177-3AD203B41FA5}">
                      <a16:colId xmlns:a16="http://schemas.microsoft.com/office/drawing/2014/main" val="2846538476"/>
                    </a:ext>
                  </a:extLst>
                </a:gridCol>
                <a:gridCol w="492613">
                  <a:extLst>
                    <a:ext uri="{9D8B030D-6E8A-4147-A177-3AD203B41FA5}">
                      <a16:colId xmlns:a16="http://schemas.microsoft.com/office/drawing/2014/main" val="3329032066"/>
                    </a:ext>
                  </a:extLst>
                </a:gridCol>
              </a:tblGrid>
              <a:tr h="1092418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最近一次執行年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/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以上數量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外部腐蝕保護電位</a:t>
                      </a:r>
                      <a:r>
                        <a:rPr lang="zh-TW" sz="1100" kern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不</a:t>
                      </a: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符合標準要求數量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附件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zh-TW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含</a:t>
                      </a: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異常點尚未改善完成之座標</a:t>
                      </a:r>
                      <a:endParaRPr lang="zh-TW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微軟正黑體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0562388"/>
                  </a:ext>
                </a:extLst>
              </a:tr>
              <a:tr h="942437">
                <a:tc vMerge="1">
                  <a:txBody>
                    <a:bodyPr/>
                    <a:lstStyle/>
                    <a:p>
                      <a:pPr algn="ctr"/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UT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altLang="en-US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TW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sz="11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sz="11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座標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腐蝕深度</a:t>
                      </a:r>
                      <a:r>
                        <a:rPr lang="en-US" sz="11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(%)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縣</a:t>
                      </a: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市</a:t>
                      </a: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sz="11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所在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1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50247"/>
                  </a:ext>
                </a:extLst>
              </a:tr>
              <a:tr h="50134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8050101XXXXX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111/09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38100" marR="38100" marT="60960" marB="6096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1234567.123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標楷體" panose="03000509000000000000" pitchFamily="65" charset="-120"/>
                        </a:rPr>
                        <a:t>123456.123</a:t>
                      </a:r>
                      <a:endParaRPr lang="zh-TW" sz="12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標楷體" panose="03000509000000000000" pitchFamily="65" charset="-12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1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台北市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3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554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49" y="1539022"/>
            <a:ext cx="8909797" cy="3014505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 startAt="3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海底管線檢測維護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2"/>
            </a:pP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zh-TW" altLang="en-US" b="1" spc="-5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異常點原</a:t>
            </a: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因分析</a:t>
            </a:r>
            <a:r>
              <a:rPr lang="zh-TW" altLang="en-US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改善措施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2"/>
            </a:pP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zh-TW" altLang="en-US" b="1" spc="-5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異常點尚未改善完成之規劃說明，及相對應的加強作為</a:t>
            </a:r>
            <a:endParaRPr kumimoji="1" lang="en-US" altLang="zh-TW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7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</p:spTree>
    <p:extLst>
      <p:ext uri="{BB962C8B-B14F-4D97-AF65-F5344CB8AC3E}">
        <p14:creationId xmlns:p14="http://schemas.microsoft.com/office/powerpoint/2010/main" val="1782039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2650" y="750908"/>
            <a:ext cx="78867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貳、管線管理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304906"/>
            <a:ext cx="7886700" cy="1854974"/>
          </a:xfrm>
        </p:spPr>
        <p:txBody>
          <a:bodyPr>
            <a:no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z="24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 startAt="3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海底管線檢測維護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4"/>
            </a:pP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檢測差異分析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同一條管線完成兩次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ILI</a:t>
            </a:r>
            <a:r>
              <a:rPr lang="zh-TW" altLang="en-US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檢測</a:t>
            </a:r>
            <a:r>
              <a:rPr lang="en-US" altLang="zh-TW" sz="20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690688" lvl="2" indent="-342900">
              <a:spcBef>
                <a:spcPts val="600"/>
              </a:spcBef>
              <a:buFont typeface="+mj-lt"/>
              <a:buAutoNum type="alphaUcPeriod"/>
            </a:pPr>
            <a:r>
              <a:rPr lang="zh-TW" altLang="en-US" sz="1800" spc="-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兩次檢測異常統計表</a:t>
            </a:r>
            <a:endParaRPr lang="en-US" altLang="zh-TW" sz="1800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 defTabSz="45720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405073-9114-4638-8861-466A172CA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617422"/>
              </p:ext>
            </p:extLst>
          </p:nvPr>
        </p:nvGraphicFramePr>
        <p:xfrm>
          <a:off x="1999129" y="3159880"/>
          <a:ext cx="8534397" cy="2067670"/>
        </p:xfrm>
        <a:graphic>
          <a:graphicData uri="http://schemas.openxmlformats.org/drawingml/2006/table">
            <a:tbl>
              <a:tblPr firstRow="1" firstCol="1" bandRow="1" bandCol="1"/>
              <a:tblGrid>
                <a:gridCol w="1086909">
                  <a:extLst>
                    <a:ext uri="{9D8B030D-6E8A-4147-A177-3AD203B41FA5}">
                      <a16:colId xmlns:a16="http://schemas.microsoft.com/office/drawing/2014/main" val="2589748125"/>
                    </a:ext>
                  </a:extLst>
                </a:gridCol>
                <a:gridCol w="544226">
                  <a:extLst>
                    <a:ext uri="{9D8B030D-6E8A-4147-A177-3AD203B41FA5}">
                      <a16:colId xmlns:a16="http://schemas.microsoft.com/office/drawing/2014/main" val="78566327"/>
                    </a:ext>
                  </a:extLst>
                </a:gridCol>
                <a:gridCol w="502465">
                  <a:extLst>
                    <a:ext uri="{9D8B030D-6E8A-4147-A177-3AD203B41FA5}">
                      <a16:colId xmlns:a16="http://schemas.microsoft.com/office/drawing/2014/main" val="941620487"/>
                    </a:ext>
                  </a:extLst>
                </a:gridCol>
                <a:gridCol w="392775">
                  <a:extLst>
                    <a:ext uri="{9D8B030D-6E8A-4147-A177-3AD203B41FA5}">
                      <a16:colId xmlns:a16="http://schemas.microsoft.com/office/drawing/2014/main" val="273364101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400151799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42571871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286916729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71900013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63033881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379379474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924077387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4098654568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114706295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61657943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3532793612"/>
                    </a:ext>
                  </a:extLst>
                </a:gridCol>
                <a:gridCol w="300978">
                  <a:extLst>
                    <a:ext uri="{9D8B030D-6E8A-4147-A177-3AD203B41FA5}">
                      <a16:colId xmlns:a16="http://schemas.microsoft.com/office/drawing/2014/main" val="2443048101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231084634"/>
                    </a:ext>
                  </a:extLst>
                </a:gridCol>
                <a:gridCol w="351014">
                  <a:extLst>
                    <a:ext uri="{9D8B030D-6E8A-4147-A177-3AD203B41FA5}">
                      <a16:colId xmlns:a16="http://schemas.microsoft.com/office/drawing/2014/main" val="1832984042"/>
                    </a:ext>
                  </a:extLst>
                </a:gridCol>
                <a:gridCol w="335618">
                  <a:extLst>
                    <a:ext uri="{9D8B030D-6E8A-4147-A177-3AD203B41FA5}">
                      <a16:colId xmlns:a16="http://schemas.microsoft.com/office/drawing/2014/main" val="90831212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1395603494"/>
                    </a:ext>
                  </a:extLst>
                </a:gridCol>
                <a:gridCol w="654302">
                  <a:extLst>
                    <a:ext uri="{9D8B030D-6E8A-4147-A177-3AD203B41FA5}">
                      <a16:colId xmlns:a16="http://schemas.microsoft.com/office/drawing/2014/main" val="670499223"/>
                    </a:ext>
                  </a:extLst>
                </a:gridCol>
              </a:tblGrid>
              <a:tr h="478921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國土資訊系統管線編號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方法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執行年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報告產出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月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檢測長度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公里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30%-40%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40%-50%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減薄</a:t>
                      </a: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50%</a:t>
                      </a: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以上</a:t>
                      </a:r>
                      <a:endParaRPr lang="en-US" altLang="zh-TW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數量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Dent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TW" alt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差異分析</a:t>
                      </a:r>
                      <a:endParaRPr lang="zh-TW" sz="10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395964"/>
                  </a:ext>
                </a:extLst>
              </a:tr>
              <a:tr h="161455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tabLst>
                          <a:tab pos="85725" algn="l"/>
                        </a:tabLs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內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&gt;12%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開挖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900" kern="0" spc="-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確認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9459864"/>
                  </a:ext>
                </a:extLst>
              </a:tr>
              <a:tr h="640376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TW" sz="12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MFL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39435"/>
                  </a:ext>
                </a:extLst>
              </a:tr>
              <a:tr h="42691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範例：</a:t>
                      </a:r>
                      <a:endParaRPr lang="en-US" altLang="zh-TW" sz="110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8070101XXXX1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MFL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en-US" altLang="zh-TW" sz="1100" dirty="0">
                          <a:solidFill>
                            <a:schemeClr val="tx1"/>
                          </a:solidFill>
                        </a:rPr>
                        <a:t>111/03</a:t>
                      </a:r>
                      <a:endParaRPr lang="zh-TW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111/05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6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0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1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4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3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2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8137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1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11518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509453" y="5391840"/>
            <a:ext cx="290913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lphaUcPeriod" startAt="2"/>
            </a:pP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不一致數量及比例分析</a:t>
            </a:r>
            <a:endParaRPr lang="en-US" altLang="zh-TW" b="1" spc="-5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+mj-lt"/>
              <a:buAutoNum type="alphaUcPeriod" startAt="2"/>
            </a:pPr>
            <a:r>
              <a:rPr lang="zh-TW" altLang="en-US" b="1" spc="-5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後續作為</a:t>
            </a:r>
            <a:endParaRPr lang="en-US" altLang="zh-TW" b="1" spc="-5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93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39022"/>
            <a:ext cx="7886700" cy="3014505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00000"/>
              </a:lnSpc>
              <a:buFont typeface="+mj-lt"/>
              <a:buAutoNum type="arabicPeriod" startAt="3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海底管線檢測維護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5"/>
            </a:pPr>
            <a:r>
              <a:rPr kumimoji="1"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海底管段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陰極保護電位量測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100000"/>
              </a:lnSpc>
              <a:buFont typeface="+mj-lt"/>
              <a:buAutoNum type="arabicParenR" startAt="5"/>
            </a:pPr>
            <a:r>
              <a:rPr kumimoji="1"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陸上管段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陰極保護電位量測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9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</p:spTree>
    <p:extLst>
      <p:ext uri="{BB962C8B-B14F-4D97-AF65-F5344CB8AC3E}">
        <p14:creationId xmlns:p14="http://schemas.microsoft.com/office/powerpoint/2010/main" val="250808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88092" y="1117492"/>
            <a:ext cx="8981515" cy="4817328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 startAt="5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巡管作業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陸上管線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巡檢單位、機制、異常處理流程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spcBef>
                <a:spcPts val="1800"/>
              </a:spcBef>
              <a:buFont typeface="Wingdings" panose="05000000000000000000" pitchFamily="2" charset="2"/>
              <a:buChar char="ü"/>
            </a:pP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巡檢異常次數統計</a:t>
            </a:r>
            <a:endParaRPr kumimoji="1"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10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22393" y="443011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1A76D40-044F-4ECE-BC27-B82E0341B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581055"/>
              </p:ext>
            </p:extLst>
          </p:nvPr>
        </p:nvGraphicFramePr>
        <p:xfrm>
          <a:off x="555810" y="2889190"/>
          <a:ext cx="11438964" cy="124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7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916">
                  <a:extLst>
                    <a:ext uri="{9D8B030D-6E8A-4147-A177-3AD203B41FA5}">
                      <a16:colId xmlns:a16="http://schemas.microsoft.com/office/drawing/2014/main" val="356931626"/>
                    </a:ext>
                  </a:extLst>
                </a:gridCol>
                <a:gridCol w="2269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906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  <a:gridCol w="1794067">
                  <a:extLst>
                    <a:ext uri="{9D8B030D-6E8A-4147-A177-3AD203B41FA5}">
                      <a16:colId xmlns:a16="http://schemas.microsoft.com/office/drawing/2014/main" val="2354253288"/>
                    </a:ext>
                  </a:extLst>
                </a:gridCol>
                <a:gridCol w="1496439">
                  <a:extLst>
                    <a:ext uri="{9D8B030D-6E8A-4147-A177-3AD203B41FA5}">
                      <a16:colId xmlns:a16="http://schemas.microsoft.com/office/drawing/2014/main" val="928495940"/>
                    </a:ext>
                  </a:extLst>
                </a:gridCol>
                <a:gridCol w="1062560">
                  <a:extLst>
                    <a:ext uri="{9D8B030D-6E8A-4147-A177-3AD203B41FA5}">
                      <a16:colId xmlns:a16="http://schemas.microsoft.com/office/drawing/2014/main" val="3650882740"/>
                    </a:ext>
                  </a:extLst>
                </a:gridCol>
              </a:tblGrid>
              <a:tr h="23308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巡檢單位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路徑或位置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  <a:endParaRPr lang="en-US" altLang="zh-TW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週期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巡檢人數</a:t>
                      </a:r>
                      <a:endParaRPr lang="en-US" altLang="zh-TW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員工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外包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巡檢方式</a:t>
                      </a:r>
                      <a:endParaRPr lang="en-US" altLang="zh-TW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步行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騎車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開車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巡檢項目及執行工作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備註</a:t>
                      </a:r>
                      <a:endParaRPr lang="en-US" altLang="zh-TW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93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例行巡管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23">
                <a:tc>
                  <a:txBody>
                    <a:bodyPr/>
                    <a:lstStyle/>
                    <a:p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加強巡管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3B11D8E-52D1-444A-8981-2CAB13F0D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982435"/>
              </p:ext>
            </p:extLst>
          </p:nvPr>
        </p:nvGraphicFramePr>
        <p:xfrm>
          <a:off x="2122393" y="4620516"/>
          <a:ext cx="83057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64">
                  <a:extLst>
                    <a:ext uri="{9D8B030D-6E8A-4147-A177-3AD203B41FA5}">
                      <a16:colId xmlns:a16="http://schemas.microsoft.com/office/drawing/2014/main" val="2433105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 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112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113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年次數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已會勘，開挖未通知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已會勘，但開挖作業時，仍挖損管線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未會勘，卻已開挖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巡檢時有發現異常情形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次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sz="1600" kern="100" dirty="0">
                        <a:solidFill>
                          <a:srgbClr val="0000FF"/>
                        </a:solidFill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376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巡檢發現之異常處理追蹤結案件數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件</a:t>
                      </a:r>
                      <a:r>
                        <a:rPr lang="en-US" sz="1600" kern="1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kern="1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680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854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57835" y="1539022"/>
            <a:ext cx="8981515" cy="3050907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 startAt="5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巡管作業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續</a:t>
            </a:r>
            <a:r>
              <a:rPr kumimoji="1"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巡察單位、機制、異常處理流程</a:t>
            </a:r>
            <a:endParaRPr kumimoji="1"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3">
              <a:buFont typeface="Wingdings" panose="05000000000000000000" pitchFamily="2" charset="2"/>
              <a:buChar char="ü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實際異常處理說明案例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11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</p:spTree>
    <p:extLst>
      <p:ext uri="{BB962C8B-B14F-4D97-AF65-F5344CB8AC3E}">
        <p14:creationId xmlns:p14="http://schemas.microsoft.com/office/powerpoint/2010/main" val="169054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52650" y="1539022"/>
            <a:ext cx="7886700" cy="4817329"/>
          </a:xfrm>
        </p:spPr>
        <p:txBody>
          <a:bodyPr>
            <a:normAutofit/>
          </a:bodyPr>
          <a:lstStyle/>
          <a:p>
            <a:pPr marL="571500" indent="-514350">
              <a:lnSpc>
                <a:spcPct val="150000"/>
              </a:lnSpc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天然氣海管維護管理情形</a:t>
            </a:r>
            <a:endParaRPr lang="en-US" altLang="zh-TW" spc="-5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+mj-lt"/>
              <a:buAutoNum type="arabicPeriod" startAt="6"/>
            </a:pPr>
            <a:r>
              <a:rPr kumimoji="1"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設備安全維護管理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12</a:t>
            </a:fld>
            <a:endParaRPr lang="zh-TW" altLang="en-US" dirty="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marL="12700"/>
            <a:r>
              <a:rPr lang="zh-TW" altLang="en-US" spc="-10" dirty="0"/>
              <a:t>貳、管線管理</a:t>
            </a:r>
            <a:endParaRPr lang="zh-TW" altLang="en-US" spc="10" dirty="0"/>
          </a:p>
        </p:txBody>
      </p:sp>
    </p:spTree>
    <p:extLst>
      <p:ext uri="{BB962C8B-B14F-4D97-AF65-F5344CB8AC3E}">
        <p14:creationId xmlns:p14="http://schemas.microsoft.com/office/powerpoint/2010/main" val="348355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057400" y="404674"/>
            <a:ext cx="6973418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叁、</a:t>
            </a:r>
            <a:r>
              <a:rPr lang="en-US" altLang="zh-TW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24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小時監控作業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13</a:t>
            </a:fld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057400" y="1143001"/>
            <a:ext cx="8229600" cy="581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ea1Cht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監控系統說明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499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2152650" y="723208"/>
            <a:ext cx="7886700" cy="6093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肆、災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害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防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救</a:t>
            </a:r>
            <a:r>
              <a:rPr lang="zh-TW" altLang="en-US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執行情況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80930" y="1816199"/>
            <a:ext cx="9347681" cy="1612801"/>
          </a:xfrm>
        </p:spPr>
        <p:txBody>
          <a:bodyPr>
            <a:normAutofit/>
          </a:bodyPr>
          <a:lstStyle/>
          <a:p>
            <a:pPr marL="514350" indent="-514350">
              <a:buFont typeface="+mj-ea"/>
              <a:buAutoNum type="ea1ChtPeriod"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管線事故緊急應變處理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ea"/>
              <a:buAutoNum type="ea1ChtPeriod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地震後緊急應變處理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流程說明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及執行情形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實例</a:t>
            </a:r>
            <a:r>
              <a:rPr lang="en-US" altLang="zh-TW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859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138781" y="524963"/>
            <a:ext cx="7914436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15</a:t>
            </a:fld>
            <a:endParaRPr lang="zh-TW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022357"/>
              </p:ext>
            </p:extLst>
          </p:nvPr>
        </p:nvGraphicFramePr>
        <p:xfrm>
          <a:off x="2514601" y="1890088"/>
          <a:ext cx="7238999" cy="427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1463977310"/>
                    </a:ext>
                  </a:extLst>
                </a:gridCol>
                <a:gridCol w="1086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6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一、虛驚事故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599">
                <a:tc grid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二、作業事故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10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間接原因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直接原因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根本</a:t>
                      </a:r>
                      <a:r>
                        <a:rPr lang="zh-TW" alt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原因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檢討改善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599"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2286001" y="1352731"/>
            <a:ext cx="8292352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/>
            </a:pP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近</a:t>
            </a:r>
            <a:r>
              <a:rPr lang="en-US" altLang="zh-TW" sz="2400" kern="0" spc="-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(112-</a:t>
            </a:r>
            <a:r>
              <a:rPr lang="zh-TW" altLang="en-US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迄今</a:t>
            </a:r>
            <a:r>
              <a:rPr lang="en-US" altLang="zh-TW" sz="2400" kern="0" spc="1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海底管線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故分析</a:t>
            </a:r>
            <a:r>
              <a:rPr lang="zh-TW" altLang="en-US" sz="2400" kern="0" spc="-2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討</a:t>
            </a:r>
            <a:r>
              <a:rPr lang="zh-TW" altLang="en-US" sz="2400" kern="0" spc="-2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改善情形</a:t>
            </a:r>
          </a:p>
        </p:txBody>
      </p:sp>
    </p:spTree>
    <p:extLst>
      <p:ext uri="{BB962C8B-B14F-4D97-AF65-F5344CB8AC3E}">
        <p14:creationId xmlns:p14="http://schemas.microsoft.com/office/powerpoint/2010/main" val="247609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781455" y="625850"/>
            <a:ext cx="8629090" cy="615553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9685">
              <a:lnSpc>
                <a:spcPct val="100000"/>
              </a:lnSpc>
            </a:pP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伍</a:t>
            </a:r>
            <a:r>
              <a:rPr spc="5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事故學習</a:t>
            </a:r>
            <a:endParaRPr spc="1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16</a:t>
            </a:fld>
            <a:endParaRPr lang="zh-TW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230432"/>
              </p:ext>
            </p:extLst>
          </p:nvPr>
        </p:nvGraphicFramePr>
        <p:xfrm>
          <a:off x="1567281" y="2324596"/>
          <a:ext cx="9057437" cy="2508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1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576">
                  <a:extLst>
                    <a:ext uri="{9D8B030D-6E8A-4147-A177-3AD203B41FA5}">
                      <a16:colId xmlns:a16="http://schemas.microsoft.com/office/drawing/2014/main" val="3945652113"/>
                    </a:ext>
                  </a:extLst>
                </a:gridCol>
                <a:gridCol w="186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38826894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0859">
                <a:tc grid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一、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</a:t>
                      </a: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3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solidFill>
                            <a:schemeClr val="tx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事故日期</a:t>
                      </a:r>
                      <a:endParaRPr lang="zh-TW" altLang="zh-TW" sz="1800" kern="100" dirty="0">
                        <a:solidFill>
                          <a:schemeClr val="tx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事故單位名稱</a:t>
                      </a:r>
                      <a:endParaRPr lang="zh-TW" alt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</a:t>
                      </a: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名稱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事故原因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800" kern="100" spc="-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平行展開作為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9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55235" marR="55235" marT="27617" marB="27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2">
            <a:extLst>
              <a:ext uri="{FF2B5EF4-FFF2-40B4-BE49-F238E27FC236}">
                <a16:creationId xmlns:a16="http://schemas.microsoft.com/office/drawing/2014/main" id="{53DC06F2-4034-43AD-8EA0-C42B8F7EB89E}"/>
              </a:ext>
            </a:extLst>
          </p:cNvPr>
          <p:cNvSpPr txBox="1">
            <a:spLocks/>
          </p:cNvSpPr>
          <p:nvPr/>
        </p:nvSpPr>
        <p:spPr>
          <a:xfrm>
            <a:off x="1753998" y="1655236"/>
            <a:ext cx="90574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標楷體"/>
                <a:ea typeface="+mj-ea"/>
                <a:cs typeface="標楷體"/>
              </a:defRPr>
            </a:lvl1pPr>
          </a:lstStyle>
          <a:p>
            <a:pPr marL="762635" indent="-742950">
              <a:buFont typeface="+mj-ea"/>
              <a:buAutoNum type="ea1ChtPeriod" startAt="2"/>
            </a:pPr>
            <a:r>
              <a:rPr lang="en-US" altLang="zh-TW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114</a:t>
            </a:r>
            <a:r>
              <a:rPr lang="zh-TW" altLang="en-US" sz="2400" kern="0" spc="1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年度國際海底管線輸儲設施事故學習，轄區之執行情況</a:t>
            </a:r>
          </a:p>
        </p:txBody>
      </p:sp>
    </p:spTree>
    <p:extLst>
      <p:ext uri="{BB962C8B-B14F-4D97-AF65-F5344CB8AC3E}">
        <p14:creationId xmlns:p14="http://schemas.microsoft.com/office/powerpoint/2010/main" val="1441598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2209800" y="561308"/>
            <a:ext cx="6973418" cy="55399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marL="12700"/>
            <a:r>
              <a:rPr lang="zh-TW" altLang="en-US" sz="4000" spc="-10" dirty="0">
                <a:latin typeface="標楷體" panose="03000509000000000000" pitchFamily="65" charset="-120"/>
                <a:ea typeface="標楷體" panose="03000509000000000000" pitchFamily="65" charset="-120"/>
              </a:rPr>
              <a:t>陸、自主管理落實度</a:t>
            </a:r>
            <a:endParaRPr sz="4000" spc="1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F15528-21DE-4FAA-801E-634DDDAF4B2B}" type="slidenum">
              <a:rPr lang="en-US" altLang="zh-TW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新細明體" panose="02020500000000000000" pitchFamily="18" charset="-120"/>
              </a:rPr>
              <a:pPr>
                <a:defRPr/>
              </a:pPr>
              <a:t>17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新細明體" panose="02020500000000000000" pitchFamily="18" charset="-120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234381" y="1402314"/>
            <a:ext cx="7543800" cy="105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海底管線</a:t>
            </a:r>
            <a:r>
              <a:rPr lang="zh-HK" altLang="en-US" sz="24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pPr marL="904875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arenR"/>
              <a:defRPr/>
            </a:pP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最近一次海底</a:t>
            </a:r>
            <a:r>
              <a:rPr lang="zh-HK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管線</a:t>
            </a:r>
            <a:r>
              <a:rPr lang="zh-TW" altLang="en-US" sz="2000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內部稽核執行結果說明</a:t>
            </a:r>
            <a:endParaRPr lang="en-US" altLang="zh-TW" sz="2000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16406D6-50FB-4972-82D2-787CC90A0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925270"/>
              </p:ext>
            </p:extLst>
          </p:nvPr>
        </p:nvGraphicFramePr>
        <p:xfrm>
          <a:off x="2585797" y="2743201"/>
          <a:ext cx="7020409" cy="2362201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76581">
                  <a:extLst>
                    <a:ext uri="{9D8B030D-6E8A-4147-A177-3AD203B41FA5}">
                      <a16:colId xmlns:a16="http://schemas.microsoft.com/office/drawing/2014/main" val="82374763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261849221"/>
                    </a:ext>
                  </a:extLst>
                </a:gridCol>
                <a:gridCol w="1854154">
                  <a:extLst>
                    <a:ext uri="{9D8B030D-6E8A-4147-A177-3AD203B41FA5}">
                      <a16:colId xmlns:a16="http://schemas.microsoft.com/office/drawing/2014/main" val="3796810848"/>
                    </a:ext>
                  </a:extLst>
                </a:gridCol>
                <a:gridCol w="2635520">
                  <a:extLst>
                    <a:ext uri="{9D8B030D-6E8A-4147-A177-3AD203B41FA5}">
                      <a16:colId xmlns:a16="http://schemas.microsoft.com/office/drawing/2014/main" val="3822681332"/>
                    </a:ext>
                  </a:extLst>
                </a:gridCol>
              </a:tblGrid>
              <a:tr h="49708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日期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chemeClr val="lt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執行單位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altLang="en-US" sz="1600" b="1" kern="0" dirty="0">
                          <a:solidFill>
                            <a:srgbClr val="FFFF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</a:rPr>
                        <a:t>稽核缺失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Aft>
                          <a:spcPts val="0"/>
                        </a:spcAft>
                      </a:pPr>
                      <a:r>
                        <a:rPr lang="zh-TW" sz="16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缺失改善執行狀況</a:t>
                      </a:r>
                      <a:endParaRPr lang="zh-TW" sz="2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31636447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867621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371304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653968"/>
                  </a:ext>
                </a:extLst>
              </a:tr>
              <a:tr h="4662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1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6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4262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82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7436" y="609600"/>
            <a:ext cx="8003364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zh-TW" altLang="en-US" sz="3600" spc="10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柒</a:t>
            </a:r>
            <a:r>
              <a:rPr sz="3600" spc="10" dirty="0">
                <a:latin typeface="標楷體"/>
                <a:cs typeface="標楷體"/>
              </a:rPr>
              <a:t>、</a:t>
            </a:r>
            <a:r>
              <a:rPr lang="zh-TW" altLang="en-US" sz="3600" spc="5" dirty="0">
                <a:latin typeface="標楷體" panose="03000509000000000000" pitchFamily="65" charset="-120"/>
                <a:ea typeface="標楷體" panose="03000509000000000000" pitchFamily="65" charset="-120"/>
                <a:cs typeface="標楷體"/>
              </a:rPr>
              <a:t>歷年查核建議之尚未改善完成說明</a:t>
            </a:r>
            <a:endParaRPr sz="3600" dirty="0">
              <a:latin typeface="標楷體"/>
              <a:cs typeface="標楷體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057401" y="2667000"/>
          <a:ext cx="7976783" cy="35660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2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5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0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4462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項目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分類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編號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查核結果及建議事項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事業單位回覆及辦理情形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改善期程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(</a:t>
                      </a:r>
                      <a:r>
                        <a:rPr lang="zh-TW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請填日期</a:t>
                      </a:r>
                      <a:r>
                        <a:rPr lang="en-US" sz="1600" kern="100" dirty="0">
                          <a:effectLst/>
                          <a:latin typeface="Times New Roman"/>
                          <a:ea typeface="標楷體"/>
                          <a:cs typeface="Times New Roman"/>
                        </a:rPr>
                        <a:t>)</a:t>
                      </a:r>
                      <a:endParaRPr lang="zh-TW" sz="1600" kern="100" dirty="0"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61595" marR="61595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投影片編號版面配置區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TW" smtClean="0"/>
              <a:t>18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58604E9-6E8B-45BC-823B-1A2C9B5CB678}"/>
              </a:ext>
            </a:extLst>
          </p:cNvPr>
          <p:cNvSpPr txBox="1"/>
          <p:nvPr/>
        </p:nvSpPr>
        <p:spPr>
          <a:xfrm>
            <a:off x="1673106" y="1499801"/>
            <a:ext cx="900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列出最近一次收到正式公文尚未改善完成之查核建議</a:t>
            </a:r>
            <a:endParaRPr lang="en-US" altLang="zh-TW" sz="2400" b="1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※</a:t>
            </a:r>
            <a:r>
              <a:rPr lang="zh-TW" altLang="en-US" sz="2400" b="1" dirty="0">
                <a:solidFill>
                  <a:srgbClr val="0000FF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查核當天簡報不須報告本項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，資料供查核委員參照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委員可提問</a:t>
            </a:r>
            <a:r>
              <a:rPr lang="en-US" altLang="zh-TW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b="1" dirty="0">
              <a:solidFill>
                <a:srgbClr val="FF0000"/>
              </a:solidFill>
              <a:highlight>
                <a:srgbClr val="FFFF00"/>
              </a:highligh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62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529</TotalTime>
  <Words>1010</Words>
  <Application>Microsoft Office PowerPoint</Application>
  <PresentationFormat>寬螢幕</PresentationFormat>
  <Paragraphs>341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標楷體</vt:lpstr>
      <vt:lpstr>Arial</vt:lpstr>
      <vt:lpstr>Calibri</vt:lpstr>
      <vt:lpstr>Calibri Light</vt:lpstr>
      <vt:lpstr>Times New Roman</vt:lpstr>
      <vt:lpstr>Wingdings</vt:lpstr>
      <vt:lpstr>Office 佈景主題</vt:lpstr>
      <vt:lpstr>115年度 天然氣生產進口事業輸儲設備查核 天然氣事業部 海管室</vt:lpstr>
      <vt:lpstr>大綱</vt:lpstr>
      <vt:lpstr>壹、事業單位之基本資料</vt:lpstr>
      <vt:lpstr>PowerPoint 簡報</vt:lpstr>
      <vt:lpstr>PowerPoint 簡報</vt:lpstr>
      <vt:lpstr>貳、管線管理</vt:lpstr>
      <vt:lpstr>PowerPoint 簡報</vt:lpstr>
      <vt:lpstr>貳、管線管理</vt:lpstr>
      <vt:lpstr>PowerPoint 簡報</vt:lpstr>
      <vt:lpstr>PowerPoint 簡報</vt:lpstr>
      <vt:lpstr>PowerPoint 簡報</vt:lpstr>
      <vt:lpstr>PowerPoint 簡報</vt:lpstr>
      <vt:lpstr>叁、24小時監控作業</vt:lpstr>
      <vt:lpstr>肆、災害防救執行情況</vt:lpstr>
      <vt:lpstr>伍、事故學習</vt:lpstr>
      <vt:lpstr>伍、事故學習</vt:lpstr>
      <vt:lpstr>陸、自主管理落實度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110年度 天然氣生產進口事業輸儲設備查核 天然氣(探採)事業部○○○○(液化天然氣廠、供氣中心、處理廠)</dc:title>
  <dc:creator>林素玉</dc:creator>
  <cp:lastModifiedBy>林素玉</cp:lastModifiedBy>
  <cp:revision>44</cp:revision>
  <dcterms:created xsi:type="dcterms:W3CDTF">2021-02-19T07:56:45Z</dcterms:created>
  <dcterms:modified xsi:type="dcterms:W3CDTF">2026-02-10T14:13:51Z</dcterms:modified>
</cp:coreProperties>
</file>