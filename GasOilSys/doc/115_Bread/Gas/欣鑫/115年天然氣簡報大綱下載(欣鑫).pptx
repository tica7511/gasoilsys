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60" r:id="rId4"/>
    <p:sldId id="284" r:id="rId5"/>
    <p:sldId id="273" r:id="rId6"/>
    <p:sldId id="287" r:id="rId7"/>
    <p:sldId id="289" r:id="rId8"/>
    <p:sldId id="264" r:id="rId9"/>
    <p:sldId id="271" r:id="rId10"/>
    <p:sldId id="288" r:id="rId11"/>
    <p:sldId id="285" r:id="rId12"/>
    <p:sldId id="28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林素玉" initials="林素玉" lastIdx="1" clrIdx="0">
    <p:extLst>
      <p:ext uri="{19B8F6BF-5375-455C-9EA6-DF929625EA0E}">
        <p15:presenceInfo xmlns:p15="http://schemas.microsoft.com/office/powerpoint/2012/main" userId="S-1-5-21-3886091937-3993499380-1032164792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F5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4" autoAdjust="0"/>
    <p:restoredTop sz="94660"/>
  </p:normalViewPr>
  <p:slideViewPr>
    <p:cSldViewPr snapToGrid="0">
      <p:cViewPr varScale="1">
        <p:scale>
          <a:sx n="62" d="100"/>
          <a:sy n="62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261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828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578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196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974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5561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0607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2130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88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3795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708" y="555740"/>
            <a:ext cx="10552581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8146-4C1D-41FE-BF5E-1D7867AC1B13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0275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2125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 anchor="t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115</a:t>
            </a:r>
            <a: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</a:t>
            </a:r>
            <a:b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天然氣生產進口事業輸儲設備查核</a:t>
            </a:r>
            <a:b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欣鑫天然氣股份有限公司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667000" y="4433311"/>
            <a:ext cx="6858000" cy="1655762"/>
          </a:xfrm>
        </p:spPr>
        <p:txBody>
          <a:bodyPr/>
          <a:lstStyle/>
          <a:p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報告人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○○○</a:t>
            </a: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115/xx/xx</a:t>
            </a:r>
            <a:endParaRPr lang="zh-TW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925773" y="476023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附件</a:t>
            </a:r>
            <a:r>
              <a:rPr lang="en-US" altLang="zh-TW" dirty="0"/>
              <a:t>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8314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大綱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zh-TW" dirty="0"/>
              <a:t>壹、事業單位之基本資料</a:t>
            </a:r>
          </a:p>
          <a:p>
            <a:pPr marL="0" indent="0">
              <a:buNone/>
            </a:pPr>
            <a:r>
              <a:rPr lang="zh-TW" altLang="zh-TW" dirty="0"/>
              <a:t>貳、</a:t>
            </a:r>
            <a:r>
              <a:rPr lang="en-US" altLang="zh-TW" dirty="0"/>
              <a:t>ISO Tank</a:t>
            </a:r>
            <a:r>
              <a:rPr lang="zh-TW" altLang="zh-TW" dirty="0"/>
              <a:t>堆場管理</a:t>
            </a:r>
          </a:p>
          <a:p>
            <a:pPr marL="0" indent="0">
              <a:buNone/>
            </a:pPr>
            <a:r>
              <a:rPr lang="zh-TW" altLang="zh-TW" dirty="0"/>
              <a:t>參、運輸管理</a:t>
            </a:r>
          </a:p>
          <a:p>
            <a:pPr marL="0" indent="0">
              <a:buNone/>
            </a:pPr>
            <a:r>
              <a:rPr lang="zh-TW" altLang="zh-TW" dirty="0"/>
              <a:t>肆、客戶工廠內輸儲設備管理</a:t>
            </a:r>
          </a:p>
          <a:p>
            <a:pPr marL="0" indent="0">
              <a:buNone/>
            </a:pPr>
            <a:r>
              <a:rPr lang="zh-TW" altLang="zh-TW" dirty="0"/>
              <a:t>伍、災害防救執行情況</a:t>
            </a:r>
          </a:p>
          <a:p>
            <a:pPr marL="0" indent="0">
              <a:buNone/>
            </a:pPr>
            <a:r>
              <a:rPr lang="zh-TW" altLang="zh-TW" dirty="0"/>
              <a:t>陸、事故學習</a:t>
            </a:r>
          </a:p>
          <a:p>
            <a:pPr marL="0" indent="0">
              <a:buNone/>
            </a:pPr>
            <a:r>
              <a:rPr lang="zh-TW" altLang="zh-TW" dirty="0"/>
              <a:t>柒、自主管理落實度</a:t>
            </a:r>
          </a:p>
          <a:p>
            <a:pPr marL="0" indent="0">
              <a:buNone/>
            </a:pPr>
            <a:r>
              <a:rPr lang="zh-TW" altLang="zh-TW" dirty="0"/>
              <a:t>捌、歷年查核建議之尚未改善完成說明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0038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壹</a:t>
            </a:r>
            <a:r>
              <a:rPr lang="zh-TW" altLang="zh-TW" dirty="0"/>
              <a:t>、事業單位之基本資料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u"/>
            </a:pPr>
            <a:r>
              <a:rPr lang="zh-TW" altLang="en-US" dirty="0"/>
              <a:t>公司簡介</a:t>
            </a:r>
            <a:endParaRPr lang="en-US" altLang="zh-TW" dirty="0"/>
          </a:p>
          <a:p>
            <a:pPr lvl="0">
              <a:buFont typeface="Wingdings" panose="05000000000000000000" pitchFamily="2" charset="2"/>
              <a:buChar char="u"/>
            </a:pPr>
            <a:r>
              <a:rPr lang="zh-TW" altLang="zh-TW" dirty="0"/>
              <a:t>製程單元或輸儲流程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9318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/>
              <a:t>貳、</a:t>
            </a:r>
            <a:r>
              <a:rPr lang="en-US" altLang="zh-TW" spc="-10" dirty="0"/>
              <a:t>ISO Tank</a:t>
            </a:r>
            <a:r>
              <a:rPr lang="zh-TW" altLang="en-US" spc="-10" dirty="0"/>
              <a:t>堆場管理</a:t>
            </a:r>
            <a:endParaRPr spc="10" dirty="0"/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2152650" y="1654195"/>
            <a:ext cx="7886700" cy="415975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災害防救設施</a:t>
            </a:r>
            <a:endParaRPr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控制室管理</a:t>
            </a:r>
            <a:endParaRPr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監測系統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管理方式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操作人員訓練、能力及職責要求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有異常情形發生時，其操作流程圖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人員管理</a:t>
            </a:r>
            <a:endParaRPr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8884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/>
              <a:t>參、運輸管理</a:t>
            </a:r>
            <a:endParaRPr spc="1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Tank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運輸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槽車運輸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洩收作業流程安全性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8829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pc="-10" dirty="0"/>
              <a:t>肆、</a:t>
            </a:r>
            <a:r>
              <a:rPr lang="zh-TW" altLang="en-US" dirty="0"/>
              <a:t>非民生用戶</a:t>
            </a:r>
            <a:r>
              <a:rPr lang="zh-TW" altLang="zh-TW" dirty="0"/>
              <a:t>輸儲設備管理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dirty="0"/>
              <a:t>輸儲設備產權歸屬說明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依合約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7F02012-B3BC-4F24-B72E-B6B21F63A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124308"/>
              </p:ext>
            </p:extLst>
          </p:nvPr>
        </p:nvGraphicFramePr>
        <p:xfrm>
          <a:off x="1093694" y="2581319"/>
          <a:ext cx="10004612" cy="3911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995">
                  <a:extLst>
                    <a:ext uri="{9D8B030D-6E8A-4147-A177-3AD203B41FA5}">
                      <a16:colId xmlns:a16="http://schemas.microsoft.com/office/drawing/2014/main" val="2991825015"/>
                    </a:ext>
                  </a:extLst>
                </a:gridCol>
                <a:gridCol w="2416487">
                  <a:extLst>
                    <a:ext uri="{9D8B030D-6E8A-4147-A177-3AD203B41FA5}">
                      <a16:colId xmlns:a16="http://schemas.microsoft.com/office/drawing/2014/main" val="243242752"/>
                    </a:ext>
                  </a:extLst>
                </a:gridCol>
                <a:gridCol w="2312895">
                  <a:extLst>
                    <a:ext uri="{9D8B030D-6E8A-4147-A177-3AD203B41FA5}">
                      <a16:colId xmlns:a16="http://schemas.microsoft.com/office/drawing/2014/main" val="3132163670"/>
                    </a:ext>
                  </a:extLst>
                </a:gridCol>
                <a:gridCol w="1972235">
                  <a:extLst>
                    <a:ext uri="{9D8B030D-6E8A-4147-A177-3AD203B41FA5}">
                      <a16:colId xmlns:a16="http://schemas.microsoft.com/office/drawing/2014/main" val="240820405"/>
                    </a:ext>
                  </a:extLst>
                </a:gridCol>
              </a:tblGrid>
              <a:tr h="545246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非民生用戶名稱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產權屬非民生用戶之輸儲設備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產權屬欣鑫之</a:t>
                      </a:r>
                      <a:endParaRPr lang="en-US" altLang="zh-TW" dirty="0"/>
                    </a:p>
                    <a:p>
                      <a:pPr algn="ctr"/>
                      <a:r>
                        <a:rPr lang="zh-TW" altLang="en-US" dirty="0"/>
                        <a:t>輸儲設備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備註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6387329"/>
                  </a:ext>
                </a:extLst>
              </a:tr>
              <a:tr h="54524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9766374"/>
                  </a:ext>
                </a:extLst>
              </a:tr>
              <a:tr h="54524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7068194"/>
                  </a:ext>
                </a:extLst>
              </a:tr>
              <a:tr h="54524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5613405"/>
                  </a:ext>
                </a:extLst>
              </a:tr>
              <a:tr h="54524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05367"/>
                  </a:ext>
                </a:extLst>
              </a:tr>
              <a:tr h="54524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1398433"/>
                  </a:ext>
                </a:extLst>
              </a:tr>
              <a:tr h="54524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066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291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pc="-10" dirty="0"/>
              <a:t>肆、</a:t>
            </a:r>
            <a:r>
              <a:rPr lang="zh-TW" altLang="en-US" dirty="0"/>
              <a:t>非民生用戶</a:t>
            </a:r>
            <a:r>
              <a:rPr lang="zh-TW" altLang="zh-TW" dirty="0"/>
              <a:t>輸儲設備管理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dirty="0"/>
              <a:t>管理方式說明</a:t>
            </a:r>
            <a:r>
              <a:rPr lang="en-US" altLang="zh-TW" dirty="0"/>
              <a:t>(</a:t>
            </a:r>
            <a:r>
              <a:rPr lang="zh-TW" altLang="en-US" dirty="0"/>
              <a:t>含監控</a:t>
            </a:r>
            <a:r>
              <a:rPr lang="en-US" altLang="zh-TW" dirty="0"/>
              <a:t>)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dirty="0"/>
              <a:t>客戶設施完整性確認</a:t>
            </a:r>
            <a:r>
              <a:rPr lang="en-US" altLang="zh-TW" dirty="0"/>
              <a:t>(</a:t>
            </a:r>
            <a:r>
              <a:rPr lang="zh-TW" altLang="en-US" dirty="0"/>
              <a:t>檢查紀錄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2078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/>
              <a:t>伍、</a:t>
            </a:r>
            <a:r>
              <a:rPr lang="zh-TW" altLang="en-US" spc="-10" dirty="0">
                <a:latin typeface="標楷體"/>
                <a:cs typeface="標楷體"/>
              </a:rPr>
              <a:t>災</a:t>
            </a:r>
            <a:r>
              <a:rPr lang="zh-TW" altLang="en-US" dirty="0">
                <a:latin typeface="標楷體"/>
                <a:cs typeface="標楷體"/>
              </a:rPr>
              <a:t>害</a:t>
            </a:r>
            <a:r>
              <a:rPr lang="zh-TW" altLang="en-US" spc="-10" dirty="0">
                <a:latin typeface="標楷體"/>
                <a:cs typeface="標楷體"/>
              </a:rPr>
              <a:t>防</a:t>
            </a:r>
            <a:r>
              <a:rPr lang="zh-TW" altLang="en-US" dirty="0">
                <a:latin typeface="標楷體"/>
                <a:cs typeface="標楷體"/>
              </a:rPr>
              <a:t>救</a:t>
            </a:r>
            <a:r>
              <a:rPr lang="zh-TW" altLang="en-US" spc="-10" dirty="0"/>
              <a:t>執行情況</a:t>
            </a:r>
            <a:endParaRPr spc="1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825626"/>
            <a:ext cx="7886700" cy="34424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堆場槽體翻覆事故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緊急應變處理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流程說明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客戶操作事故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緊急應變處理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流程說明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運輸過程意外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事故緊急應變處理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流程說明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Tank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槽車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dirty="0"/>
              <a:t>供氣穩定應變機制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28597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8781" y="524963"/>
            <a:ext cx="7914436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9685">
              <a:lnSpc>
                <a:spcPct val="100000"/>
              </a:lnSpc>
            </a:pP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陸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9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688076"/>
              </p:ext>
            </p:extLst>
          </p:nvPr>
        </p:nvGraphicFramePr>
        <p:xfrm>
          <a:off x="2514601" y="1890088"/>
          <a:ext cx="7238999" cy="4279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6998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1086998">
                  <a:extLst>
                    <a:ext uri="{9D8B030D-6E8A-4147-A177-3AD203B41FA5}">
                      <a16:colId xmlns:a16="http://schemas.microsoft.com/office/drawing/2014/main" val="1463977310"/>
                    </a:ext>
                  </a:extLst>
                </a:gridCol>
                <a:gridCol w="1086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6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一、虛驚事故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二、作業事故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alt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2286001" y="1327768"/>
            <a:ext cx="791443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Wingdings" panose="05000000000000000000" pitchFamily="2" charset="2"/>
              <a:buChar char="u"/>
            </a:pP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近</a:t>
            </a:r>
            <a:r>
              <a:rPr lang="en-US" altLang="zh-TW" sz="2400" kern="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(112</a:t>
            </a:r>
            <a:r>
              <a:rPr lang="zh-TW" altLang="en-US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年至迄今</a:t>
            </a:r>
            <a:r>
              <a:rPr lang="en-US" altLang="zh-TW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故分析</a:t>
            </a:r>
            <a:r>
              <a:rPr lang="zh-TW" altLang="en-US" sz="2400" kern="0" spc="-2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討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改善情形</a:t>
            </a:r>
          </a:p>
        </p:txBody>
      </p:sp>
    </p:spTree>
    <p:extLst>
      <p:ext uri="{BB962C8B-B14F-4D97-AF65-F5344CB8AC3E}">
        <p14:creationId xmlns:p14="http://schemas.microsoft.com/office/powerpoint/2010/main" val="2476093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8781" y="524963"/>
            <a:ext cx="7914436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9685">
              <a:lnSpc>
                <a:spcPct val="100000"/>
              </a:lnSpc>
            </a:pP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陸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10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305493"/>
              </p:ext>
            </p:extLst>
          </p:nvPr>
        </p:nvGraphicFramePr>
        <p:xfrm>
          <a:off x="2514601" y="1890089"/>
          <a:ext cx="7238999" cy="2139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6998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1086998">
                  <a:extLst>
                    <a:ext uri="{9D8B030D-6E8A-4147-A177-3AD203B41FA5}">
                      <a16:colId xmlns:a16="http://schemas.microsoft.com/office/drawing/2014/main" val="1463977310"/>
                    </a:ext>
                  </a:extLst>
                </a:gridCol>
                <a:gridCol w="1086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6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國際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alt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學習重點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2286001" y="1352731"/>
            <a:ext cx="6471819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442913" indent="-423863">
              <a:buFont typeface="Wingdings" panose="05000000000000000000" pitchFamily="2" charset="2"/>
              <a:buChar char="u"/>
            </a:pPr>
            <a:r>
              <a:rPr lang="zh-TW" altLang="en-US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近</a:t>
            </a:r>
            <a:r>
              <a:rPr lang="en-US" altLang="zh-TW" sz="2400" kern="0" spc="-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年國際</a:t>
            </a:r>
            <a:r>
              <a:rPr lang="zh-TW" altLang="en-US" sz="2400" kern="0" spc="-2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</a:t>
            </a:r>
            <a:r>
              <a:rPr lang="zh-TW" altLang="en-US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故分析</a:t>
            </a:r>
            <a:r>
              <a:rPr lang="zh-TW" altLang="en-US" sz="2400" kern="0" spc="-2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</a:t>
            </a:r>
            <a:r>
              <a:rPr lang="zh-TW" altLang="en-US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討</a:t>
            </a:r>
            <a:r>
              <a:rPr lang="zh-TW" altLang="en-US" sz="2400" kern="0" spc="-2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lang="zh-TW" altLang="en-US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學習</a:t>
            </a:r>
          </a:p>
        </p:txBody>
      </p:sp>
    </p:spTree>
    <p:extLst>
      <p:ext uri="{BB962C8B-B14F-4D97-AF65-F5344CB8AC3E}">
        <p14:creationId xmlns:p14="http://schemas.microsoft.com/office/powerpoint/2010/main" val="267479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209800" y="561308"/>
            <a:ext cx="6973418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/>
              <a:t>柒、自主管理落實度</a:t>
            </a:r>
            <a:endParaRPr sz="4000" spc="1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>
                <a:defRPr/>
              </a:pPr>
              <a:t>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234381" y="1635551"/>
            <a:ext cx="7543800" cy="587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/>
            </a:pP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輸儲設施最近一次</a:t>
            </a:r>
            <a:r>
              <a:rPr lang="zh-HK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</a:t>
            </a:r>
            <a:endParaRPr lang="zh-TW" altLang="en-US" sz="2400" dirty="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16406D6-50FB-4972-82D2-787CC90A0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705572"/>
              </p:ext>
            </p:extLst>
          </p:nvPr>
        </p:nvGraphicFramePr>
        <p:xfrm>
          <a:off x="2496077" y="2524837"/>
          <a:ext cx="7020409" cy="2385823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76581">
                  <a:extLst>
                    <a:ext uri="{9D8B030D-6E8A-4147-A177-3AD203B41FA5}">
                      <a16:colId xmlns:a16="http://schemas.microsoft.com/office/drawing/2014/main" val="82374763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261849221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796810848"/>
                    </a:ext>
                  </a:extLst>
                </a:gridCol>
                <a:gridCol w="2635520">
                  <a:extLst>
                    <a:ext uri="{9D8B030D-6E8A-4147-A177-3AD203B41FA5}">
                      <a16:colId xmlns:a16="http://schemas.microsoft.com/office/drawing/2014/main" val="3822681332"/>
                    </a:ext>
                  </a:extLst>
                </a:gridCol>
              </a:tblGrid>
              <a:tr h="497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執行單位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rgbClr val="FFFF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稽核缺失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缺失改善執行狀況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1636447"/>
                  </a:ext>
                </a:extLst>
              </a:tr>
              <a:tr h="4899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867621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1304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65396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26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7809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9786" y="609600"/>
            <a:ext cx="829101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z="3600" spc="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捌</a:t>
            </a:r>
            <a:r>
              <a:rPr sz="3600" spc="10" dirty="0">
                <a:latin typeface="標楷體"/>
                <a:cs typeface="標楷體"/>
              </a:rPr>
              <a:t>、</a:t>
            </a:r>
            <a:r>
              <a:rPr lang="zh-TW" altLang="en-US" sz="3600" spc="5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歷年查核建議之尚未改善完成說明</a:t>
            </a:r>
            <a:endParaRPr sz="3600" dirty="0">
              <a:latin typeface="標楷體"/>
              <a:cs typeface="標楷體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057401" y="2667000"/>
          <a:ext cx="7976783" cy="35660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2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5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3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446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項目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分類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編號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查核結果及建議事項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事業單位回覆及辦理情形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改善期程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(</a:t>
                      </a: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請填日期</a:t>
                      </a: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)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12</a:t>
            </a:fld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8604E9-6E8B-45BC-823B-1A2C9B5CB678}"/>
              </a:ext>
            </a:extLst>
          </p:cNvPr>
          <p:cNvSpPr txBox="1"/>
          <p:nvPr/>
        </p:nvSpPr>
        <p:spPr>
          <a:xfrm>
            <a:off x="1673106" y="1499801"/>
            <a:ext cx="90075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列出最近一次收到正式公文尚未改善完成之查核建議</a:t>
            </a:r>
            <a:endParaRPr lang="en-US" altLang="zh-TW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b="1" dirty="0">
                <a:solidFill>
                  <a:srgbClr val="000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查核當天簡報不須報告本項</a:t>
            </a:r>
            <a:r>
              <a:rPr lang="zh-TW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，資料供查核委員參照</a:t>
            </a:r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委員可提問</a:t>
            </a:r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4629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283</TotalTime>
  <Words>439</Words>
  <Application>Microsoft Office PowerPoint</Application>
  <PresentationFormat>寬螢幕</PresentationFormat>
  <Paragraphs>109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標楷體</vt:lpstr>
      <vt:lpstr>Arial</vt:lpstr>
      <vt:lpstr>Calibri</vt:lpstr>
      <vt:lpstr>Calibri Light</vt:lpstr>
      <vt:lpstr>Times New Roman</vt:lpstr>
      <vt:lpstr>Wingdings</vt:lpstr>
      <vt:lpstr>Office 佈景主題</vt:lpstr>
      <vt:lpstr>115年度 天然氣生產進口事業輸儲設備查核 欣鑫天然氣股份有限公司</vt:lpstr>
      <vt:lpstr>大綱</vt:lpstr>
      <vt:lpstr>壹、事業單位之基本資料</vt:lpstr>
      <vt:lpstr>貳、ISO Tank堆場管理</vt:lpstr>
      <vt:lpstr>參、運輸管理</vt:lpstr>
      <vt:lpstr>肆、非民生用戶輸儲設備管理</vt:lpstr>
      <vt:lpstr>肆、非民生用戶輸儲設備管理</vt:lpstr>
      <vt:lpstr>伍、災害防救執行情況</vt:lpstr>
      <vt:lpstr>陸、事故學習</vt:lpstr>
      <vt:lpstr>陸、事故學習</vt:lpstr>
      <vt:lpstr>柒、自主管理落實度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110年度 天然氣生產進口事業輸儲設備查核 天然氣(探採)事業部○○○○(液化天然氣廠、供氣中心、處理廠)</dc:title>
  <dc:creator>林素玉</dc:creator>
  <cp:lastModifiedBy>林素玉</cp:lastModifiedBy>
  <cp:revision>47</cp:revision>
  <dcterms:created xsi:type="dcterms:W3CDTF">2021-02-19T07:56:45Z</dcterms:created>
  <dcterms:modified xsi:type="dcterms:W3CDTF">2026-02-10T14:07:22Z</dcterms:modified>
</cp:coreProperties>
</file>