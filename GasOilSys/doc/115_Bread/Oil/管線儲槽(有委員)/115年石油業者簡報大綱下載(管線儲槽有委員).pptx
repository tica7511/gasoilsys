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  <p:sldMasterId id="2147483679" r:id="rId2"/>
  </p:sldMasterIdLst>
  <p:notesMasterIdLst>
    <p:notesMasterId r:id="rId31"/>
  </p:notesMasterIdLst>
  <p:handoutMasterIdLst>
    <p:handoutMasterId r:id="rId32"/>
  </p:handoutMasterIdLst>
  <p:sldIdLst>
    <p:sldId id="256" r:id="rId3"/>
    <p:sldId id="278" r:id="rId4"/>
    <p:sldId id="280" r:id="rId5"/>
    <p:sldId id="301" r:id="rId6"/>
    <p:sldId id="281" r:id="rId7"/>
    <p:sldId id="288" r:id="rId8"/>
    <p:sldId id="282" r:id="rId9"/>
    <p:sldId id="299" r:id="rId10"/>
    <p:sldId id="292" r:id="rId11"/>
    <p:sldId id="294" r:id="rId12"/>
    <p:sldId id="300" r:id="rId13"/>
    <p:sldId id="304" r:id="rId14"/>
    <p:sldId id="305" r:id="rId15"/>
    <p:sldId id="303" r:id="rId16"/>
    <p:sldId id="269" r:id="rId17"/>
    <p:sldId id="306" r:id="rId18"/>
    <p:sldId id="307" r:id="rId19"/>
    <p:sldId id="286" r:id="rId20"/>
    <p:sldId id="266" r:id="rId21"/>
    <p:sldId id="295" r:id="rId22"/>
    <p:sldId id="262" r:id="rId23"/>
    <p:sldId id="263" r:id="rId24"/>
    <p:sldId id="297" r:id="rId25"/>
    <p:sldId id="289" r:id="rId26"/>
    <p:sldId id="287" r:id="rId27"/>
    <p:sldId id="290" r:id="rId28"/>
    <p:sldId id="308" r:id="rId29"/>
    <p:sldId id="264" r:id="rId30"/>
  </p:sldIdLst>
  <p:sldSz cx="12192000" cy="6858000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44" y="476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59B5987D-C37D-4E8A-BA42-C1D25822811C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838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9C5FF207-390D-4F2F-9298-1332489B96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193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90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6451" y="0"/>
            <a:ext cx="4436527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1B153B6-9C8F-4A3E-8D21-7659FDC53B29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2807" y="3417016"/>
            <a:ext cx="8189000" cy="2795287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2843"/>
            <a:ext cx="4434890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6451" y="6742843"/>
            <a:ext cx="4436527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B3F934C-B212-468A-BAEB-C6347AEA3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69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989263" y="887413"/>
            <a:ext cx="4256087" cy="239553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F934C-B212-468A-BAEB-C6347AEA345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3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7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91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6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86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49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187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77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79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403" y="1524001"/>
            <a:ext cx="8586012" cy="15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5" dirty="0">
                <a:latin typeface="Times New Roman"/>
                <a:cs typeface="Times New Roman"/>
              </a:rPr>
              <a:t>115</a:t>
            </a:r>
            <a:r>
              <a:rPr sz="3600" spc="-5" dirty="0"/>
              <a:t>年度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275"/>
              </a:lnSpc>
            </a:pP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石油業者儲油設施查核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簡報</a:t>
            </a:r>
            <a:b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適管線單位</a:t>
            </a: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39631" y="4191001"/>
            <a:ext cx="82848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1605" algn="ctr"/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報告單位</a:t>
            </a:r>
            <a:r>
              <a:rPr lang="zh-TW" altLang="en-US" sz="3200" spc="5" dirty="0"/>
              <a:t>：</a:t>
            </a:r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公司 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lang="zh-TW" altLang="en-US" sz="3200" dirty="0"/>
              <a:t>○○○○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中心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sz="3200" spc="5" dirty="0" err="1"/>
              <a:t>報</a:t>
            </a:r>
            <a:r>
              <a:rPr sz="3200" spc="-15" dirty="0" err="1"/>
              <a:t>告人</a:t>
            </a:r>
            <a:r>
              <a:rPr lang="zh-TW" altLang="en-US" sz="3200" spc="-15" dirty="0"/>
              <a:t>：</a:t>
            </a:r>
            <a:r>
              <a:rPr lang="zh-TW" altLang="en-US" sz="3200" dirty="0"/>
              <a:t>○○</a:t>
            </a:r>
            <a:endParaRPr lang="en-US" altLang="zh-TW" sz="3200" dirty="0"/>
          </a:p>
          <a:p>
            <a:pPr marR="141605" algn="ctr"/>
            <a:r>
              <a:rPr lang="en-US" altLang="zh-TW" sz="2400" spc="-5" dirty="0">
                <a:latin typeface="Times New Roman"/>
                <a:cs typeface="Times New Roman"/>
              </a:rPr>
              <a:t>115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57200" y="228600"/>
            <a:ext cx="914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52650" y="516141"/>
            <a:ext cx="7886700" cy="1082674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8783" y="1598815"/>
            <a:ext cx="8439150" cy="43434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壹、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貳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參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、儲槽管理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伍、事故學習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8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柒、</a:t>
            </a:r>
            <a:r>
              <a:rPr lang="zh-TW" altLang="en-US" sz="2800" spc="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職業安全衛生</a:t>
            </a:r>
            <a:r>
              <a:rPr lang="en-US" altLang="zh-TW" sz="2800" spc="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(</a:t>
            </a:r>
            <a:r>
              <a:rPr lang="zh-TW" altLang="en-US" sz="2800" spc="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僅台塑石化須填寫</a:t>
            </a:r>
            <a:r>
              <a:rPr lang="en-US" altLang="zh-TW" sz="2800" spc="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)</a:t>
            </a:r>
            <a:endParaRPr lang="zh-TW" altLang="en-US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捌、歷年查核建議之尚未改善完成說明</a:t>
            </a:r>
            <a:endParaRPr lang="zh-TW" altLang="en-US" sz="28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22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52600" y="1935093"/>
            <a:ext cx="9193776" cy="2865507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管線概述：管線總數量、總長度、八大油品管線各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如：柴油管線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條、汽油管線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管線方塊示意圖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請加入閥箱位置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5889070" y="132330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不須放入各管線詳細資料</a:t>
            </a:r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8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6213" y="1788032"/>
            <a:ext cx="10936778" cy="2148661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管線路徑圖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請參考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NCDR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公開資訊，與天然災害潛勢圖套疊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，如有影響請填寫下表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68400" lvl="1" indent="0">
              <a:lnSpc>
                <a:spcPct val="150000"/>
              </a:lnSpc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套疊型態至少包含：活動斷層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地滑及山崩的地質敏感區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土壤液化區、土石流潛勢區、淹水潛勢區等，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請列表如下，若經套疊後確認無此型態，請於備註欄填寫「無」</a:t>
            </a:r>
            <a:endParaRPr lang="en-US" altLang="zh-TW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41629"/>
              </p:ext>
            </p:extLst>
          </p:nvPr>
        </p:nvGraphicFramePr>
        <p:xfrm>
          <a:off x="1905000" y="3936693"/>
          <a:ext cx="926084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018">
                  <a:extLst>
                    <a:ext uri="{9D8B030D-6E8A-4147-A177-3AD203B41FA5}">
                      <a16:colId xmlns:a16="http://schemas.microsoft.com/office/drawing/2014/main" val="1507164014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2146195938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369525606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400970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天然災害潛勢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型態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如：斷層、土壤液化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…)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影響管線編號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加強作為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4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活動斷層敏感區域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807010XXXX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1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地滑及山崩的地質敏感區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1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土壤液化區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86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土石流潛勢區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2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淹水潛勢區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723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50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374" y="66383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-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0608" y="1374120"/>
            <a:ext cx="8210550" cy="129288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風險評估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所有管線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95350" lvl="1" indent="0">
              <a:spcBef>
                <a:spcPts val="60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pPr defTabSz="45720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21924"/>
              </p:ext>
            </p:extLst>
          </p:nvPr>
        </p:nvGraphicFramePr>
        <p:xfrm>
          <a:off x="2366352" y="4798839"/>
          <a:ext cx="853024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693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2035565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3903992862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877874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4921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中、高風險管段位置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造成高風險之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主要因子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緩降措施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98844"/>
              </p:ext>
            </p:extLst>
          </p:nvPr>
        </p:nvGraphicFramePr>
        <p:xfrm>
          <a:off x="2345475" y="2667000"/>
          <a:ext cx="78630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042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382220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969281977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2008436781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326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已評估完成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管段總數量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19255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</a:tbl>
          </a:graphicData>
        </a:graphic>
      </p:graphicFrame>
      <p:sp>
        <p:nvSpPr>
          <p:cNvPr id="8" name="內容版面配置區 2"/>
          <p:cNvSpPr txBox="1">
            <a:spLocks/>
          </p:cNvSpPr>
          <p:nvPr/>
        </p:nvSpPr>
        <p:spPr>
          <a:xfrm>
            <a:off x="2895600" y="3741909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未完成評估數量及規劃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8900" lvl="7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1AB50A5-DAD1-4FCD-932D-049D6B56CC2B}"/>
              </a:ext>
            </a:extLst>
          </p:cNvPr>
          <p:cNvSpPr txBox="1">
            <a:spLocks/>
          </p:cNvSpPr>
          <p:nvPr/>
        </p:nvSpPr>
        <p:spPr>
          <a:xfrm>
            <a:off x="2895599" y="4195993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中、高風險管段緩降措施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32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64" y="45019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9801" y="1066800"/>
            <a:ext cx="7611649" cy="990600"/>
          </a:xfrm>
        </p:spPr>
        <p:txBody>
          <a:bodyPr>
            <a:normAutofit/>
          </a:bodyPr>
          <a:lstStyle/>
          <a:p>
            <a:pPr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6450" lvl="1" indent="-349250">
              <a:spcBef>
                <a:spcPts val="1200"/>
              </a:spcBef>
              <a:buFont typeface="+mj-lt"/>
              <a:buAutoNum type="arabicPeriod" startAt="2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管線完整性評估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轄區每條管線皆須列出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24887"/>
              </p:ext>
            </p:extLst>
          </p:nvPr>
        </p:nvGraphicFramePr>
        <p:xfrm>
          <a:off x="2209800" y="2151962"/>
          <a:ext cx="796536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560379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594301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9996078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ILI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強度測試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1.25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倍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0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4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2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59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67750" y="6385847"/>
            <a:ext cx="2743200" cy="365125"/>
          </a:xfrm>
        </p:spPr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9148" y="5585628"/>
            <a:ext cx="603370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異常點原因分析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81DC79-5906-4362-ACD7-92F7E84CC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15483"/>
              </p:ext>
            </p:extLst>
          </p:nvPr>
        </p:nvGraphicFramePr>
        <p:xfrm>
          <a:off x="520890" y="2779068"/>
          <a:ext cx="11395878" cy="2536204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133971">
                  <a:extLst>
                    <a:ext uri="{9D8B030D-6E8A-4147-A177-3AD203B41FA5}">
                      <a16:colId xmlns:a16="http://schemas.microsoft.com/office/drawing/2014/main" val="2075771783"/>
                    </a:ext>
                  </a:extLst>
                </a:gridCol>
                <a:gridCol w="443125">
                  <a:extLst>
                    <a:ext uri="{9D8B030D-6E8A-4147-A177-3AD203B41FA5}">
                      <a16:colId xmlns:a16="http://schemas.microsoft.com/office/drawing/2014/main" val="662857452"/>
                    </a:ext>
                  </a:extLst>
                </a:gridCol>
                <a:gridCol w="564352">
                  <a:extLst>
                    <a:ext uri="{9D8B030D-6E8A-4147-A177-3AD203B41FA5}">
                      <a16:colId xmlns:a16="http://schemas.microsoft.com/office/drawing/2014/main" val="118332061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735467087"/>
                    </a:ext>
                  </a:extLst>
                </a:gridCol>
                <a:gridCol w="401743">
                  <a:extLst>
                    <a:ext uri="{9D8B030D-6E8A-4147-A177-3AD203B41FA5}">
                      <a16:colId xmlns:a16="http://schemas.microsoft.com/office/drawing/2014/main" val="902292947"/>
                    </a:ext>
                  </a:extLst>
                </a:gridCol>
                <a:gridCol w="248697">
                  <a:extLst>
                    <a:ext uri="{9D8B030D-6E8A-4147-A177-3AD203B41FA5}">
                      <a16:colId xmlns:a16="http://schemas.microsoft.com/office/drawing/2014/main" val="3553550980"/>
                    </a:ext>
                  </a:extLst>
                </a:gridCol>
                <a:gridCol w="388534">
                  <a:extLst>
                    <a:ext uri="{9D8B030D-6E8A-4147-A177-3AD203B41FA5}">
                      <a16:colId xmlns:a16="http://schemas.microsoft.com/office/drawing/2014/main" val="28591479"/>
                    </a:ext>
                  </a:extLst>
                </a:gridCol>
                <a:gridCol w="233212">
                  <a:extLst>
                    <a:ext uri="{9D8B030D-6E8A-4147-A177-3AD203B41FA5}">
                      <a16:colId xmlns:a16="http://schemas.microsoft.com/office/drawing/2014/main" val="2897539864"/>
                    </a:ext>
                  </a:extLst>
                </a:gridCol>
                <a:gridCol w="394006">
                  <a:extLst>
                    <a:ext uri="{9D8B030D-6E8A-4147-A177-3AD203B41FA5}">
                      <a16:colId xmlns:a16="http://schemas.microsoft.com/office/drawing/2014/main" val="324269345"/>
                    </a:ext>
                  </a:extLst>
                </a:gridCol>
                <a:gridCol w="256434">
                  <a:extLst>
                    <a:ext uri="{9D8B030D-6E8A-4147-A177-3AD203B41FA5}">
                      <a16:colId xmlns:a16="http://schemas.microsoft.com/office/drawing/2014/main" val="2851588527"/>
                    </a:ext>
                  </a:extLst>
                </a:gridCol>
                <a:gridCol w="371587">
                  <a:extLst>
                    <a:ext uri="{9D8B030D-6E8A-4147-A177-3AD203B41FA5}">
                      <a16:colId xmlns:a16="http://schemas.microsoft.com/office/drawing/2014/main" val="4117485428"/>
                    </a:ext>
                  </a:extLst>
                </a:gridCol>
                <a:gridCol w="250158">
                  <a:extLst>
                    <a:ext uri="{9D8B030D-6E8A-4147-A177-3AD203B41FA5}">
                      <a16:colId xmlns:a16="http://schemas.microsoft.com/office/drawing/2014/main" val="2275322054"/>
                    </a:ext>
                  </a:extLst>
                </a:gridCol>
                <a:gridCol w="377059">
                  <a:extLst>
                    <a:ext uri="{9D8B030D-6E8A-4147-A177-3AD203B41FA5}">
                      <a16:colId xmlns:a16="http://schemas.microsoft.com/office/drawing/2014/main" val="3800979750"/>
                    </a:ext>
                  </a:extLst>
                </a:gridCol>
                <a:gridCol w="235119">
                  <a:extLst>
                    <a:ext uri="{9D8B030D-6E8A-4147-A177-3AD203B41FA5}">
                      <a16:colId xmlns:a16="http://schemas.microsoft.com/office/drawing/2014/main" val="3088943753"/>
                    </a:ext>
                  </a:extLst>
                </a:gridCol>
                <a:gridCol w="392902">
                  <a:extLst>
                    <a:ext uri="{9D8B030D-6E8A-4147-A177-3AD203B41FA5}">
                      <a16:colId xmlns:a16="http://schemas.microsoft.com/office/drawing/2014/main" val="1360043500"/>
                    </a:ext>
                  </a:extLst>
                </a:gridCol>
                <a:gridCol w="291957">
                  <a:extLst>
                    <a:ext uri="{9D8B030D-6E8A-4147-A177-3AD203B41FA5}">
                      <a16:colId xmlns:a16="http://schemas.microsoft.com/office/drawing/2014/main" val="1351901446"/>
                    </a:ext>
                  </a:extLst>
                </a:gridCol>
                <a:gridCol w="388265">
                  <a:extLst>
                    <a:ext uri="{9D8B030D-6E8A-4147-A177-3AD203B41FA5}">
                      <a16:colId xmlns:a16="http://schemas.microsoft.com/office/drawing/2014/main" val="2620890868"/>
                    </a:ext>
                  </a:extLst>
                </a:gridCol>
                <a:gridCol w="350150">
                  <a:extLst>
                    <a:ext uri="{9D8B030D-6E8A-4147-A177-3AD203B41FA5}">
                      <a16:colId xmlns:a16="http://schemas.microsoft.com/office/drawing/2014/main" val="2048013035"/>
                    </a:ext>
                  </a:extLst>
                </a:gridCol>
                <a:gridCol w="375003">
                  <a:extLst>
                    <a:ext uri="{9D8B030D-6E8A-4147-A177-3AD203B41FA5}">
                      <a16:colId xmlns:a16="http://schemas.microsoft.com/office/drawing/2014/main" val="2008008067"/>
                    </a:ext>
                  </a:extLst>
                </a:gridCol>
                <a:gridCol w="568220">
                  <a:extLst>
                    <a:ext uri="{9D8B030D-6E8A-4147-A177-3AD203B41FA5}">
                      <a16:colId xmlns:a16="http://schemas.microsoft.com/office/drawing/2014/main" val="1356746092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1327484355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837787993"/>
                    </a:ext>
                  </a:extLst>
                </a:gridCol>
                <a:gridCol w="537421">
                  <a:extLst>
                    <a:ext uri="{9D8B030D-6E8A-4147-A177-3AD203B41FA5}">
                      <a16:colId xmlns:a16="http://schemas.microsoft.com/office/drawing/2014/main" val="4085277663"/>
                    </a:ext>
                  </a:extLst>
                </a:gridCol>
                <a:gridCol w="414687">
                  <a:extLst>
                    <a:ext uri="{9D8B030D-6E8A-4147-A177-3AD203B41FA5}">
                      <a16:colId xmlns:a16="http://schemas.microsoft.com/office/drawing/2014/main" val="976377882"/>
                    </a:ext>
                  </a:extLst>
                </a:gridCol>
                <a:gridCol w="530655">
                  <a:extLst>
                    <a:ext uri="{9D8B030D-6E8A-4147-A177-3AD203B41FA5}">
                      <a16:colId xmlns:a16="http://schemas.microsoft.com/office/drawing/2014/main" val="570576512"/>
                    </a:ext>
                  </a:extLst>
                </a:gridCol>
                <a:gridCol w="382613">
                  <a:extLst>
                    <a:ext uri="{9D8B030D-6E8A-4147-A177-3AD203B41FA5}">
                      <a16:colId xmlns:a16="http://schemas.microsoft.com/office/drawing/2014/main" val="2846538476"/>
                    </a:ext>
                  </a:extLst>
                </a:gridCol>
                <a:gridCol w="492613">
                  <a:extLst>
                    <a:ext uri="{9D8B030D-6E8A-4147-A177-3AD203B41FA5}">
                      <a16:colId xmlns:a16="http://schemas.microsoft.com/office/drawing/2014/main" val="3329032066"/>
                    </a:ext>
                  </a:extLst>
                </a:gridCol>
              </a:tblGrid>
              <a:tr h="109241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最近一次執行年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外部腐蝕保護電位</a:t>
                      </a:r>
                      <a:r>
                        <a:rPr lang="zh-TW" sz="11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符合標準要求數量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62388"/>
                  </a:ext>
                </a:extLst>
              </a:tr>
              <a:tr h="942437">
                <a:tc vMerge="1">
                  <a:txBody>
                    <a:bodyPr/>
                    <a:lstStyle/>
                    <a:p>
                      <a:pPr algn="ctr"/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腐蝕深度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縣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市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所在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50247"/>
                  </a:ext>
                </a:extLst>
              </a:tr>
              <a:tr h="501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8070101XXXXX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1234567.123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台北市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55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檢測差異分析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同一條管線完成兩次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兩次檢測異常統計表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405073-9114-4638-8861-466A172CA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96341"/>
              </p:ext>
            </p:extLst>
          </p:nvPr>
        </p:nvGraphicFramePr>
        <p:xfrm>
          <a:off x="1981200" y="2733645"/>
          <a:ext cx="8534397" cy="278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86909">
                  <a:extLst>
                    <a:ext uri="{9D8B030D-6E8A-4147-A177-3AD203B41FA5}">
                      <a16:colId xmlns:a16="http://schemas.microsoft.com/office/drawing/2014/main" val="2589748125"/>
                    </a:ext>
                  </a:extLst>
                </a:gridCol>
                <a:gridCol w="544226">
                  <a:extLst>
                    <a:ext uri="{9D8B030D-6E8A-4147-A177-3AD203B41FA5}">
                      <a16:colId xmlns:a16="http://schemas.microsoft.com/office/drawing/2014/main" val="78566327"/>
                    </a:ext>
                  </a:extLst>
                </a:gridCol>
                <a:gridCol w="502465">
                  <a:extLst>
                    <a:ext uri="{9D8B030D-6E8A-4147-A177-3AD203B41FA5}">
                      <a16:colId xmlns:a16="http://schemas.microsoft.com/office/drawing/2014/main" val="941620487"/>
                    </a:ext>
                  </a:extLst>
                </a:gridCol>
                <a:gridCol w="392775">
                  <a:extLst>
                    <a:ext uri="{9D8B030D-6E8A-4147-A177-3AD203B41FA5}">
                      <a16:colId xmlns:a16="http://schemas.microsoft.com/office/drawing/2014/main" val="273364101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400151799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42571871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28691672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71900013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63033881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379379474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92407738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4098654568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14706295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61657943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53279361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443048101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23108463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832984042"/>
                    </a:ext>
                  </a:extLst>
                </a:gridCol>
                <a:gridCol w="335618">
                  <a:extLst>
                    <a:ext uri="{9D8B030D-6E8A-4147-A177-3AD203B41FA5}">
                      <a16:colId xmlns:a16="http://schemas.microsoft.com/office/drawing/2014/main" val="90831212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1395603494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670499223"/>
                    </a:ext>
                  </a:extLst>
                </a:gridCol>
              </a:tblGrid>
              <a:tr h="4789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差異分析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395964"/>
                  </a:ext>
                </a:extLst>
              </a:tr>
              <a:tr h="16145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59864"/>
                  </a:ext>
                </a:extLst>
              </a:tr>
              <a:tr h="64037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9435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111/03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111/05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6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4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3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137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15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01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8140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79148" y="5585628"/>
            <a:ext cx="281102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不一致數量及比例分析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2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4035" y="1451983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CIPS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95352"/>
              </p:ext>
            </p:extLst>
          </p:nvPr>
        </p:nvGraphicFramePr>
        <p:xfrm>
          <a:off x="2519082" y="2971563"/>
          <a:ext cx="7637928" cy="145459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941626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225621037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16699324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06962147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4032662100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2058388023"/>
                    </a:ext>
                  </a:extLst>
                </a:gridCol>
                <a:gridCol w="286409">
                  <a:extLst>
                    <a:ext uri="{9D8B030D-6E8A-4147-A177-3AD203B41FA5}">
                      <a16:colId xmlns:a16="http://schemas.microsoft.com/office/drawing/2014/main" val="2218312435"/>
                    </a:ext>
                  </a:extLst>
                </a:gridCol>
                <a:gridCol w="287074">
                  <a:extLst>
                    <a:ext uri="{9D8B030D-6E8A-4147-A177-3AD203B41FA5}">
                      <a16:colId xmlns:a16="http://schemas.microsoft.com/office/drawing/2014/main" val="140839357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80383060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225555414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590331050"/>
                    </a:ext>
                  </a:extLst>
                </a:gridCol>
              </a:tblGrid>
              <a:tr h="42834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同時檢測管線數量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折線圖產出</a:t>
                      </a:r>
                      <a:endParaRPr lang="en-US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複判日期</a:t>
                      </a:r>
                      <a:endParaRPr lang="zh-TW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合格標準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請參照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填表說明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(2)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立即改善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排程改善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需監控點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42834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級距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441762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1" y="4574558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4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129753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陰極防蝕系統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異常整流站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無則免填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10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CD543F-BBA0-43BC-A975-3B37CFC24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4062"/>
              </p:ext>
            </p:extLst>
          </p:nvPr>
        </p:nvGraphicFramePr>
        <p:xfrm>
          <a:off x="1371601" y="3147421"/>
          <a:ext cx="9829799" cy="2474336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46230">
                  <a:extLst>
                    <a:ext uri="{9D8B030D-6E8A-4147-A177-3AD203B41FA5}">
                      <a16:colId xmlns:a16="http://schemas.microsoft.com/office/drawing/2014/main" val="2036969452"/>
                    </a:ext>
                  </a:extLst>
                </a:gridCol>
                <a:gridCol w="1346230">
                  <a:extLst>
                    <a:ext uri="{9D8B030D-6E8A-4147-A177-3AD203B41FA5}">
                      <a16:colId xmlns:a16="http://schemas.microsoft.com/office/drawing/2014/main" val="2197951069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580576515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755372806"/>
                    </a:ext>
                  </a:extLst>
                </a:gridCol>
                <a:gridCol w="1644805">
                  <a:extLst>
                    <a:ext uri="{9D8B030D-6E8A-4147-A177-3AD203B41FA5}">
                      <a16:colId xmlns:a16="http://schemas.microsoft.com/office/drawing/2014/main" val="43788507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1779594569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2691750283"/>
                    </a:ext>
                  </a:extLst>
                </a:gridCol>
              </a:tblGrid>
              <a:tr h="9856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b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異常整流站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異常起始日期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異常狀況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整流站修復進度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公司報修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設計中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112395" indent="-147320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向地方主管機關提出申請中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修復中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影響國土資訊系統管線編號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58255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35754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1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57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附掛橋梁檢查執行情況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若無免填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檢查方法、檢查頻率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85597"/>
              </p:ext>
            </p:extLst>
          </p:nvPr>
        </p:nvGraphicFramePr>
        <p:xfrm>
          <a:off x="2519082" y="2971563"/>
          <a:ext cx="6243918" cy="1396878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57208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639567870"/>
                    </a:ext>
                  </a:extLst>
                </a:gridCol>
              </a:tblGrid>
              <a:tr h="8566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橋梁名稱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長度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附掛方式、位置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檢測頻率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檢測結果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0" y="4648200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68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8"/>
            <a:ext cx="9562160" cy="496217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管線巡檢機制介紹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級地震後巡管重點、位置，並列出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114.1.21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大埔地震及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114.12.27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宜蘭地震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後相關作為。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巡管人員之訓練及考核項目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是否有符合轄管管線之內容物及環境特性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微洩漏之檢測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巡管方法及頻率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8740"/>
              </p:ext>
            </p:extLst>
          </p:nvPr>
        </p:nvGraphicFramePr>
        <p:xfrm>
          <a:off x="1479563" y="2592251"/>
          <a:ext cx="10197763" cy="167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733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  <a:gridCol w="1772636">
                  <a:extLst>
                    <a:ext uri="{9D8B030D-6E8A-4147-A177-3AD203B41FA5}">
                      <a16:colId xmlns:a16="http://schemas.microsoft.com/office/drawing/2014/main" val="2354253288"/>
                    </a:ext>
                  </a:extLst>
                </a:gridCol>
                <a:gridCol w="1478564">
                  <a:extLst>
                    <a:ext uri="{9D8B030D-6E8A-4147-A177-3AD203B41FA5}">
                      <a16:colId xmlns:a16="http://schemas.microsoft.com/office/drawing/2014/main" val="928495940"/>
                    </a:ext>
                  </a:extLst>
                </a:gridCol>
                <a:gridCol w="1049868">
                  <a:extLst>
                    <a:ext uri="{9D8B030D-6E8A-4147-A177-3AD203B41FA5}">
                      <a16:colId xmlns:a16="http://schemas.microsoft.com/office/drawing/2014/main" val="3650882740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路徑或位置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週期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巡檢人數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員工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外包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巡檢方式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步行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騎車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巡檢項目及執行工作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例行巡管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6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加強巡管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6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9"/>
            <a:ext cx="9562160" cy="135849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重點巡查作為說明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巡檢異常次數統計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47109"/>
              </p:ext>
            </p:extLst>
          </p:nvPr>
        </p:nvGraphicFramePr>
        <p:xfrm>
          <a:off x="1811125" y="2947162"/>
          <a:ext cx="8305799" cy="287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</a:tblGrid>
              <a:tr h="47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112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已會勘，開挖未通知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已會勘，但開挖作業時，仍挖損管線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未會勘，卻已開挖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巡檢時有發現異常情形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7617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巡檢發現之異常處理追蹤結案件數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件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8070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F10CCA6-D99C-4D54-8F09-9BDE3E2C4C07}"/>
              </a:ext>
            </a:extLst>
          </p:cNvPr>
          <p:cNvSpPr/>
          <p:nvPr/>
        </p:nvSpPr>
        <p:spPr bwMode="auto">
          <a:xfrm>
            <a:off x="1811125" y="6019207"/>
            <a:ext cx="8305799" cy="365126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47675" indent="-279400" algn="l">
              <a:buFont typeface="標楷體" panose="03000509000000000000" pitchFamily="65" charset="-120"/>
              <a:buChar char="※"/>
            </a:pP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巡檢發現異常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」：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請以長途管線處新定義統計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82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11FB0-20A2-48FD-B1FD-20B030B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、管線管理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E0D8A7-DF5E-47D1-B890-8EBA3958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26" y="1825625"/>
            <a:ext cx="8858693" cy="46672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巡檢異常分析說明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未會勘，卻已開挖；</a:t>
            </a: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預防再發生之作為</a:t>
            </a:r>
            <a:endParaRPr lang="en-US" altLang="zh-TW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A8987A-40F3-4D64-A70D-09DEBF7B9FE7}"/>
              </a:ext>
            </a:extLst>
          </p:cNvPr>
          <p:cNvGraphicFramePr>
            <a:graphicFrameLocks noGrp="1"/>
          </p:cNvGraphicFramePr>
          <p:nvPr/>
        </p:nvGraphicFramePr>
        <p:xfrm>
          <a:off x="2324986" y="2642395"/>
          <a:ext cx="7641051" cy="1126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319317831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7823252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56717350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644391887"/>
                    </a:ext>
                  </a:extLst>
                </a:gridCol>
                <a:gridCol w="1378770">
                  <a:extLst>
                    <a:ext uri="{9D8B030D-6E8A-4147-A177-3AD203B41FA5}">
                      <a16:colId xmlns:a16="http://schemas.microsoft.com/office/drawing/2014/main" val="3382116512"/>
                    </a:ext>
                  </a:extLst>
                </a:gridCol>
                <a:gridCol w="1098936">
                  <a:extLst>
                    <a:ext uri="{9D8B030D-6E8A-4147-A177-3AD203B41FA5}">
                      <a16:colId xmlns:a16="http://schemas.microsoft.com/office/drawing/2014/main" val="1950294520"/>
                    </a:ext>
                  </a:extLst>
                </a:gridCol>
              </a:tblGrid>
              <a:tr h="2810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地點</a:t>
                      </a:r>
                      <a:r>
                        <a:rPr lang="en-US" altLang="zh-HK" sz="1200" kern="100" dirty="0">
                          <a:effectLst/>
                        </a:rPr>
                        <a:t>(</a:t>
                      </a:r>
                      <a:r>
                        <a:rPr lang="zh-TW" altLang="en-US" sz="1200" kern="100" dirty="0">
                          <a:effectLst/>
                        </a:rPr>
                        <a:t>縣市政府</a:t>
                      </a:r>
                      <a:r>
                        <a:rPr lang="en-US" altLang="zh-TW" sz="120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原因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時間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713215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甲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08:00-12:00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6057107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12:00-18:00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739083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18:00-08:00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05437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20BD5F0-B076-47AE-9DDC-03ECBF4E56FB}"/>
              </a:ext>
            </a:extLst>
          </p:cNvPr>
          <p:cNvGraphicFramePr>
            <a:graphicFrameLocks noGrp="1"/>
          </p:cNvGraphicFramePr>
          <p:nvPr/>
        </p:nvGraphicFramePr>
        <p:xfrm>
          <a:off x="2324985" y="4159250"/>
          <a:ext cx="7641051" cy="1235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94318794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068885059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21708281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552627614"/>
                    </a:ext>
                  </a:extLst>
                </a:gridCol>
                <a:gridCol w="1378771">
                  <a:extLst>
                    <a:ext uri="{9D8B030D-6E8A-4147-A177-3AD203B41FA5}">
                      <a16:colId xmlns:a16="http://schemas.microsoft.com/office/drawing/2014/main" val="452882476"/>
                    </a:ext>
                  </a:extLst>
                </a:gridCol>
                <a:gridCol w="1098935">
                  <a:extLst>
                    <a:ext uri="{9D8B030D-6E8A-4147-A177-3AD203B41FA5}">
                      <a16:colId xmlns:a16="http://schemas.microsoft.com/office/drawing/2014/main" val="3211524668"/>
                    </a:ext>
                  </a:extLst>
                </a:gridCol>
              </a:tblGrid>
              <a:tr h="40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施工單位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次數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道路主管機關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其他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952112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台電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公路局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029640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台水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高公局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308337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中華電信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縣市政府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39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8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685800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828800" y="1828800"/>
            <a:ext cx="9372600" cy="29749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4"/>
            </a:pPr>
            <a:r>
              <a:rPr lang="en-US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石油管線維修檢測、汰換、防盜、防漏及緊急應變計畫表執行情況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11213" indent="-365125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年度預計與實際執行對照表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2438" indent="0">
              <a:buNone/>
            </a:pP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若有不一致請補充說明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1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1598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85222"/>
              </p:ext>
            </p:extLst>
          </p:nvPr>
        </p:nvGraphicFramePr>
        <p:xfrm>
          <a:off x="1559630" y="3097666"/>
          <a:ext cx="967917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84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67937300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洩漏監控系統</a:t>
                      </a:r>
                      <a:b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(LDS,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防盜油系統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,DCS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71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99475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23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22175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824638">
                  <a:extLst>
                    <a:ext uri="{9D8B030D-6E8A-4147-A177-3AD203B41FA5}">
                      <a16:colId xmlns:a16="http://schemas.microsoft.com/office/drawing/2014/main" val="772907599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泵送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路過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39800" y="1524000"/>
            <a:ext cx="10871200" cy="26227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石油儲槽</a:t>
            </a:r>
            <a:r>
              <a:rPr lang="zh-TW" altLang="en-US" sz="2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廠區儲槽配置圖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儲槽概述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含各油品座數、容量統計及具陰極防蝕系統座數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不須列出全數儲槽完整資料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6450" lvl="1" indent="0">
              <a:lnSpc>
                <a:spcPct val="150000"/>
              </a:lnSpc>
              <a:buNone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如：汽油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萬公秉、柴油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萬公秉，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座皆設有陰極防蝕系統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是否曾被環保署公告為土壤及地下水汙染控制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整治場址，若有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，請說明現況</a:t>
            </a:r>
            <a:endParaRPr lang="en-US" altLang="zh-TW" sz="2000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19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</p:spTree>
    <p:extLst>
      <p:ext uri="{BB962C8B-B14F-4D97-AF65-F5344CB8AC3E}">
        <p14:creationId xmlns:p14="http://schemas.microsoft.com/office/powerpoint/2010/main" val="1320514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209800" y="1492097"/>
            <a:ext cx="9067800" cy="483250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近三年內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儲槽內部開放檢查</a:t>
            </a:r>
            <a:r>
              <a:rPr lang="zh-TW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及維修說明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如：底板內容物側零星點蝕，最大點蝕深度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25%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、底板塗層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EPOXY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局部脫落劣化，僅針對局部修補等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及儲槽壽命評估結果</a:t>
            </a:r>
            <a:endParaRPr lang="en-US" altLang="zh-TW" sz="2400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ea"/>
              <a:buAutoNum type="ea1ChtPeriod" startAt="2"/>
            </a:pPr>
            <a:endParaRPr lang="zh-TW" altLang="en-US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歷年重大維修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如：更換底板、更換頂板等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請詳細說明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20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CA82AAC-BDB5-4AA0-9C5E-50BEA7C7D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75709"/>
              </p:ext>
            </p:extLst>
          </p:nvPr>
        </p:nvGraphicFramePr>
        <p:xfrm>
          <a:off x="1555750" y="3429000"/>
          <a:ext cx="1002665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922">
                  <a:extLst>
                    <a:ext uri="{9D8B030D-6E8A-4147-A177-3AD203B41FA5}">
                      <a16:colId xmlns:a16="http://schemas.microsoft.com/office/drawing/2014/main" val="2525938798"/>
                    </a:ext>
                  </a:extLst>
                </a:gridCol>
                <a:gridCol w="1380922">
                  <a:extLst>
                    <a:ext uri="{9D8B030D-6E8A-4147-A177-3AD203B41FA5}">
                      <a16:colId xmlns:a16="http://schemas.microsoft.com/office/drawing/2014/main" val="733163953"/>
                    </a:ext>
                  </a:extLst>
                </a:gridCol>
                <a:gridCol w="1702206">
                  <a:extLst>
                    <a:ext uri="{9D8B030D-6E8A-4147-A177-3AD203B41FA5}">
                      <a16:colId xmlns:a16="http://schemas.microsoft.com/office/drawing/2014/main" val="194855692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90218140"/>
                    </a:ext>
                  </a:extLst>
                </a:gridCol>
                <a:gridCol w="2111609">
                  <a:extLst>
                    <a:ext uri="{9D8B030D-6E8A-4147-A177-3AD203B41FA5}">
                      <a16:colId xmlns:a16="http://schemas.microsoft.com/office/drawing/2014/main" val="1082327530"/>
                    </a:ext>
                  </a:extLst>
                </a:gridCol>
                <a:gridCol w="936391">
                  <a:extLst>
                    <a:ext uri="{9D8B030D-6E8A-4147-A177-3AD203B41FA5}">
                      <a16:colId xmlns:a16="http://schemas.microsoft.com/office/drawing/2014/main" val="326734790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儲槽編號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底板壽命評估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最近一次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開放檢查結果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58132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dirty="0"/>
                        <a:t>例：</a:t>
                      </a:r>
                      <a:r>
                        <a:rPr lang="en-US" altLang="zh-TW" dirty="0"/>
                        <a:t>T-01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30%~50%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1.&gt;40%</a:t>
                      </a:r>
                      <a:r>
                        <a:rPr lang="zh-TW" altLang="en-US" dirty="0"/>
                        <a:t>點銲</a:t>
                      </a:r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處、</a:t>
                      </a:r>
                      <a:r>
                        <a:rPr lang="en-US" altLang="zh-TW" dirty="0"/>
                        <a:t>30%~40%</a:t>
                      </a:r>
                      <a:r>
                        <a:rPr lang="zh-TW" altLang="en-US" dirty="0"/>
                        <a:t>塗層保護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9925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&gt;50%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貼板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0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50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564175"/>
            <a:ext cx="97536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肆</a:t>
            </a:r>
            <a:r>
              <a:rPr sz="4400" spc="-10" dirty="0">
                <a:latin typeface="標楷體"/>
                <a:cs typeface="標楷體"/>
              </a:rPr>
              <a:t>、</a:t>
            </a:r>
            <a:r>
              <a:rPr sz="4400" spc="-10" dirty="0" err="1">
                <a:latin typeface="標楷體"/>
                <a:cs typeface="標楷體"/>
              </a:rPr>
              <a:t>災</a:t>
            </a:r>
            <a:r>
              <a:rPr sz="4400" dirty="0" err="1">
                <a:latin typeface="標楷體"/>
                <a:cs typeface="標楷體"/>
              </a:rPr>
              <a:t>害</a:t>
            </a:r>
            <a:r>
              <a:rPr sz="4400" spc="-10" dirty="0" err="1">
                <a:latin typeface="標楷體"/>
                <a:cs typeface="標楷體"/>
              </a:rPr>
              <a:t>防</a:t>
            </a:r>
            <a:r>
              <a:rPr sz="4400" dirty="0" err="1">
                <a:latin typeface="標楷體"/>
                <a:cs typeface="標楷體"/>
              </a:rPr>
              <a:t>救</a:t>
            </a:r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z="4400" spc="-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676400"/>
            <a:ext cx="10041808" cy="3154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200000"/>
              </a:lnSpc>
            </a:pPr>
            <a:r>
              <a:rPr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長途輸油管線事故緊急應變處理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儲槽油料洩漏事故緊急應變處理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管線儲槽地震後緊急應變處理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150000"/>
              </a:lnSpc>
            </a:pP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04999" y="521589"/>
            <a:ext cx="8763001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20223"/>
              </p:ext>
            </p:extLst>
          </p:nvPr>
        </p:nvGraphicFramePr>
        <p:xfrm>
          <a:off x="2514601" y="1890088"/>
          <a:ext cx="7848600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事日故期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22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38199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52370"/>
              </p:ext>
            </p:extLst>
          </p:nvPr>
        </p:nvGraphicFramePr>
        <p:xfrm>
          <a:off x="2473908" y="2205259"/>
          <a:ext cx="7848600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44">
                  <a:extLst>
                    <a:ext uri="{9D8B030D-6E8A-4147-A177-3AD203B41FA5}">
                      <a16:colId xmlns:a16="http://schemas.microsoft.com/office/drawing/2014/main" val="4181338354"/>
                    </a:ext>
                  </a:extLst>
                </a:gridCol>
                <a:gridCol w="195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包含天然氣管線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13136"/>
              </p:ext>
            </p:extLst>
          </p:nvPr>
        </p:nvGraphicFramePr>
        <p:xfrm>
          <a:off x="1600200" y="2390077"/>
          <a:ext cx="9313790" cy="251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72811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130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一、作業事故</a:t>
                      </a:r>
                      <a:endParaRPr lang="zh-TW" altLang="en-US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239172085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24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163343" y="1754498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E9AE-BC62-47FA-BD3E-2A9201D339A7}"/>
              </a:ext>
            </a:extLst>
          </p:cNvPr>
          <p:cNvSpPr txBox="1"/>
          <p:nvPr/>
        </p:nvSpPr>
        <p:spPr>
          <a:xfrm>
            <a:off x="8407423" y="1224712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※ 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交通事故請勿列入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長途管線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最近一次長途</a:t>
            </a:r>
            <a:r>
              <a:rPr lang="zh-HK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7919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428912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86000" y="1412146"/>
            <a:ext cx="7162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儲槽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最近一次儲槽內部稽核執行結果說明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21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1714500" y="518583"/>
            <a:ext cx="87630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柒、職業安全衛生</a:t>
            </a:r>
            <a:r>
              <a:rPr lang="en-US" altLang="zh-TW" sz="4000" spc="-1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000" spc="-1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僅台塑石化須填寫</a:t>
            </a:r>
            <a:r>
              <a:rPr lang="en-US" altLang="zh-TW" sz="4000" spc="-1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sz="4000" spc="1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752600" y="1326057"/>
            <a:ext cx="9144000" cy="501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41338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職業安全衛生管理概況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目前推動的職業安全衛生相關活動計畫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職業災害類型及特性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年職業災害發生情形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四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定期檢討結果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降低職災之精進策略及措施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六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職場霸凌及性騷擾相關管理機制與防範作為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七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如何強化工作者的健康管理，以因應新興勞動條件轉型及勞動力高齡化問題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40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捌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55143"/>
              </p:ext>
            </p:extLst>
          </p:nvPr>
        </p:nvGraphicFramePr>
        <p:xfrm>
          <a:off x="990600" y="2667000"/>
          <a:ext cx="10210801" cy="2024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277926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28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592203" y="1407467"/>
            <a:ext cx="9007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</a:t>
            </a:r>
            <a:r>
              <a:rPr lang="zh-TW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最近一次收到正式公文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尚未改善完成之查核建議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3293</TotalTime>
  <Words>2472</Words>
  <Application>Microsoft Office PowerPoint</Application>
  <PresentationFormat>寬螢幕</PresentationFormat>
  <Paragraphs>675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28</vt:i4>
      </vt:variant>
    </vt:vector>
  </HeadingPairs>
  <TitlesOfParts>
    <vt:vector size="37" baseType="lpstr">
      <vt:lpstr>PMingLiU</vt:lpstr>
      <vt:lpstr>標楷體</vt:lpstr>
      <vt:lpstr>Arial</vt:lpstr>
      <vt:lpstr>Calibri</vt:lpstr>
      <vt:lpstr>Calibri Light</vt:lpstr>
      <vt:lpstr>Times New Roman</vt:lpstr>
      <vt:lpstr>Wingdings</vt:lpstr>
      <vt:lpstr>Office Theme</vt:lpstr>
      <vt:lpstr>Office 佈景主題</vt:lpstr>
      <vt:lpstr>115年度 石油業者儲油設施查核簡報 (適管線單位)</vt:lpstr>
      <vt:lpstr>大綱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貳、控制室管理</vt:lpstr>
      <vt:lpstr>貳、控制室管理</vt:lpstr>
      <vt:lpstr>貳、控制室管理</vt:lpstr>
      <vt:lpstr>PowerPoint 簡報</vt:lpstr>
      <vt:lpstr>PowerPoint 簡報</vt:lpstr>
      <vt:lpstr>PowerPoint 簡報</vt:lpstr>
      <vt:lpstr>伍、事故學習</vt:lpstr>
      <vt:lpstr>伍、事故學習</vt:lpstr>
      <vt:lpstr>伍、事故學習</vt:lpstr>
      <vt:lpstr>陸、自主管理落實度</vt:lpstr>
      <vt:lpstr>陸、自主管理落實度</vt:lpstr>
      <vt:lpstr>柒、職業安全衛生(僅台塑石化須填寫)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105年度天然氣生產進口事業查核</dc:title>
  <dc:creator>user</dc:creator>
  <cp:lastModifiedBy>林素玉</cp:lastModifiedBy>
  <cp:revision>178</cp:revision>
  <cp:lastPrinted>2023-02-13T06:04:05Z</cp:lastPrinted>
  <dcterms:created xsi:type="dcterms:W3CDTF">2017-03-31T11:36:46Z</dcterms:created>
  <dcterms:modified xsi:type="dcterms:W3CDTF">2026-02-10T13:30:35Z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2017-03-31T00:00:00Z</vt:filetime>
  </property>
</Properties>
</file>