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  <p:sldMasterId id="2147483679" r:id="rId2"/>
  </p:sldMasterIdLst>
  <p:notesMasterIdLst>
    <p:notesMasterId r:id="rId16"/>
  </p:notesMasterIdLst>
  <p:handoutMasterIdLst>
    <p:handoutMasterId r:id="rId17"/>
  </p:handoutMasterIdLst>
  <p:sldIdLst>
    <p:sldId id="256" r:id="rId3"/>
    <p:sldId id="278" r:id="rId4"/>
    <p:sldId id="266" r:id="rId5"/>
    <p:sldId id="295" r:id="rId6"/>
    <p:sldId id="284" r:id="rId7"/>
    <p:sldId id="306" r:id="rId8"/>
    <p:sldId id="307" r:id="rId9"/>
    <p:sldId id="286" r:id="rId10"/>
    <p:sldId id="263" r:id="rId11"/>
    <p:sldId id="297" r:id="rId12"/>
    <p:sldId id="289" r:id="rId13"/>
    <p:sldId id="287" r:id="rId14"/>
    <p:sldId id="264" r:id="rId15"/>
  </p:sldIdLst>
  <p:sldSz cx="12192000" cy="6858000"/>
  <p:notesSz cx="10234613" cy="70993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9EDF4"/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44" y="460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797838" y="0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59B5987D-C37D-4E8A-BA42-C1D25822811C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6742692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797838" y="6742692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9C5FF207-390D-4F2F-9298-1332489B96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4193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90" cy="356458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796451" y="0"/>
            <a:ext cx="4436527" cy="356458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11B153B6-9C8F-4A3E-8D21-7659FDC53B29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989263" y="887413"/>
            <a:ext cx="4256087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022807" y="3417016"/>
            <a:ext cx="8189000" cy="2795287"/>
          </a:xfrm>
          <a:prstGeom prst="rect">
            <a:avLst/>
          </a:prstGeom>
        </p:spPr>
        <p:txBody>
          <a:bodyPr vert="horz" lIns="94759" tIns="47380" rIns="94759" bIns="4738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742843"/>
            <a:ext cx="4434890" cy="356457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796451" y="6742843"/>
            <a:ext cx="4436527" cy="356457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FB3F934C-B212-468A-BAEB-C6347AEA3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694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989263" y="887413"/>
            <a:ext cx="4256087" cy="239553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F934C-B212-468A-BAEB-C6347AEA345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6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21589"/>
            <a:ext cx="10552581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8194F-2846-4DC9-A1CB-ABA4B10B4F15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60E42-D240-464D-BDBF-706F7D2B21F6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41A14-4691-417A-8844-17A590D27649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C227A-6CD0-4D72-A4ED-473A6BE3F191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53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53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238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27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914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063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863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49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187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771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02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3109" y="521589"/>
            <a:ext cx="6145783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166" y="3176778"/>
            <a:ext cx="1104646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9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1403" y="1524001"/>
            <a:ext cx="8586012" cy="1592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5" dirty="0">
                <a:latin typeface="Times New Roman"/>
                <a:cs typeface="Times New Roman"/>
              </a:rPr>
              <a:t>115</a:t>
            </a:r>
            <a:r>
              <a:rPr sz="3600" spc="-5" dirty="0"/>
              <a:t>年度</a:t>
            </a:r>
            <a:endParaRPr sz="3600" dirty="0">
              <a:latin typeface="Times New Roman"/>
              <a:cs typeface="Times New Roman"/>
            </a:endParaRPr>
          </a:p>
          <a:p>
            <a:pPr algn="ctr">
              <a:lnSpc>
                <a:spcPts val="4275"/>
              </a:lnSpc>
            </a:pPr>
            <a:r>
              <a:rPr lang="zh-TW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石油業者儲油設施查核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簡報</a:t>
            </a:r>
            <a:b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039631" y="4191001"/>
            <a:ext cx="8284845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41605" algn="ctr"/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報告單位</a:t>
            </a:r>
            <a:r>
              <a:rPr lang="zh-TW" altLang="en-US" sz="3200" spc="5" dirty="0"/>
              <a:t>：</a:t>
            </a:r>
            <a:r>
              <a:rPr lang="zh-TW" altLang="en-US" sz="3200" dirty="0"/>
              <a:t>○○</a:t>
            </a:r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公司 </a:t>
            </a:r>
            <a:endParaRPr lang="en-US" altLang="zh-TW" sz="3200" spc="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R="141605" algn="ctr"/>
            <a:r>
              <a:rPr lang="zh-TW" altLang="en-US" sz="3200" dirty="0"/>
              <a:t>○○○○</a:t>
            </a:r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中心</a:t>
            </a:r>
            <a:endParaRPr lang="en-US" altLang="zh-TW" sz="3200" spc="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R="141605" algn="ctr"/>
            <a:r>
              <a:rPr sz="3200" spc="5" dirty="0" err="1"/>
              <a:t>報</a:t>
            </a:r>
            <a:r>
              <a:rPr sz="3200" spc="-15" dirty="0" err="1"/>
              <a:t>告人</a:t>
            </a:r>
            <a:r>
              <a:rPr lang="zh-TW" altLang="en-US" sz="3200" spc="-15" dirty="0"/>
              <a:t>：</a:t>
            </a:r>
            <a:r>
              <a:rPr lang="zh-TW" altLang="en-US" sz="3200" dirty="0"/>
              <a:t>○○</a:t>
            </a:r>
            <a:endParaRPr lang="en-US" altLang="zh-TW" sz="3200" dirty="0"/>
          </a:p>
          <a:p>
            <a:pPr marR="141605" algn="ctr"/>
            <a:r>
              <a:rPr lang="en-US" altLang="zh-TW" sz="2400" spc="-5" dirty="0">
                <a:latin typeface="Times New Roman"/>
                <a:cs typeface="Times New Roman"/>
              </a:rPr>
              <a:t>115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lang="zh-TW" altLang="en-US" sz="2400" dirty="0"/>
              <a:t>○○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lang="zh-TW" altLang="en-US" sz="2400" dirty="0"/>
              <a:t>○○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57200" y="228600"/>
            <a:ext cx="9144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附件</a:t>
            </a:r>
            <a:r>
              <a:rPr lang="en-US" altLang="zh-TW" sz="1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52650" y="516141"/>
            <a:ext cx="7886700" cy="1082674"/>
          </a:xfrm>
        </p:spPr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大綱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19074D3-F037-46AA-A4B8-0A6B0191C342}"/>
              </a:ext>
            </a:extLst>
          </p:cNvPr>
          <p:cNvSpPr txBox="1">
            <a:spLocks/>
          </p:cNvSpPr>
          <p:nvPr/>
        </p:nvSpPr>
        <p:spPr>
          <a:xfrm>
            <a:off x="2152650" y="1538163"/>
            <a:ext cx="7162799" cy="3919074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500" b="1" i="0">
                <a:solidFill>
                  <a:schemeClr val="tx1"/>
                </a:solidFill>
                <a:latin typeface="標楷體"/>
                <a:ea typeface="+mn-ea"/>
                <a:cs typeface="標楷體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zh-TW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壹、</a:t>
            </a:r>
            <a:r>
              <a:rPr lang="zh-TW" altLang="en-US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儲槽管理</a:t>
            </a:r>
            <a:endParaRPr lang="en-US" altLang="zh-TW" sz="2800" b="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貳</a:t>
            </a:r>
            <a:r>
              <a:rPr lang="zh-TW" altLang="zh-TW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管線管理</a:t>
            </a:r>
            <a:endParaRPr lang="zh-TW" altLang="zh-TW" sz="2800" b="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zh-TW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參</a:t>
            </a:r>
            <a:r>
              <a:rPr lang="zh-TW" altLang="en-US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、控制室管理</a:t>
            </a:r>
            <a:endParaRPr lang="en-US" altLang="zh-TW" sz="2800" b="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肆</a:t>
            </a:r>
            <a:r>
              <a:rPr lang="zh-TW" altLang="zh-TW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800" b="0" kern="0" spc="1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lang="en-US" altLang="zh-TW" sz="2800" b="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伍</a:t>
            </a:r>
            <a:r>
              <a:rPr lang="zh-TW" altLang="zh-TW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自主管理落實度</a:t>
            </a:r>
            <a:endParaRPr lang="zh-TW" altLang="zh-TW" sz="2800" b="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陸、</a:t>
            </a:r>
            <a:r>
              <a:rPr lang="zh-TW" altLang="en-US" sz="2800" b="0" kern="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歷年查核建議之尚未改善完成說明</a:t>
            </a:r>
            <a:endParaRPr lang="zh-TW" altLang="zh-TW" sz="2800" b="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229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939800" y="1524000"/>
            <a:ext cx="10871200" cy="2622703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石油儲槽</a:t>
            </a:r>
            <a:r>
              <a:rPr lang="zh-TW" altLang="en-US" sz="24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基本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</a:t>
            </a: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廠區儲槽配置圖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儲槽概述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含各油品座數、容量統計及具陰極防蝕系統座數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en-US" altLang="zh-TW" sz="20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不須列出全數儲槽完整資料</a:t>
            </a:r>
            <a:r>
              <a:rPr lang="en-US" altLang="zh-TW" sz="20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06450" lvl="1" indent="0">
              <a:lnSpc>
                <a:spcPct val="150000"/>
              </a:lnSpc>
              <a:buNone/>
            </a:pP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如：汽油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2.5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萬公秉、柴油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萬公秉，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座皆設有陰極防蝕系統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 startAt="3"/>
            </a:pP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是否曾被環保署公告為土壤及地下水汙染控制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整治場址，若有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，請說明現況</a:t>
            </a:r>
            <a:endParaRPr lang="en-US" altLang="zh-TW" sz="2000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8564564" y="6378575"/>
            <a:ext cx="2103437" cy="342900"/>
          </a:xfrm>
        </p:spPr>
        <p:txBody>
          <a:bodyPr/>
          <a:lstStyle/>
          <a:p>
            <a:fld id="{B6F15528-21DE-4FAA-801E-634DDDAF4B2B}" type="slidenum">
              <a:rPr lang="en-US" altLang="zh-TW" smtClean="0"/>
              <a:t>3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057400" y="533400"/>
            <a:ext cx="716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壹、儲槽管理</a:t>
            </a:r>
          </a:p>
        </p:txBody>
      </p:sp>
    </p:spTree>
    <p:extLst>
      <p:ext uri="{BB962C8B-B14F-4D97-AF65-F5344CB8AC3E}">
        <p14:creationId xmlns:p14="http://schemas.microsoft.com/office/powerpoint/2010/main" val="1320514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209800" y="1492097"/>
            <a:ext cx="9067800" cy="4832502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近三年內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儲槽內部開放檢查</a:t>
            </a:r>
            <a:r>
              <a:rPr lang="zh-TW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結果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及維修說明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如：底板內容物側零星點蝕，最大點蝕深度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25%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、底板塗層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EPOXY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局部脫落劣化，僅針對局部修補等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及儲槽壽命評估結果</a:t>
            </a:r>
            <a:endParaRPr lang="en-US" altLang="zh-TW" sz="2400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endParaRPr lang="en-US" altLang="zh-TW" sz="2400" b="1" spc="-5" dirty="0">
              <a:solidFill>
                <a:srgbClr val="00B0F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endParaRPr lang="en-US" altLang="zh-TW" sz="2400" b="1" spc="-5" dirty="0">
              <a:solidFill>
                <a:srgbClr val="00B0F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ea"/>
              <a:buAutoNum type="ea1ChtPeriod" startAt="2"/>
            </a:pPr>
            <a:endParaRPr lang="zh-TW" altLang="en-US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歷年重大維修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如：更換底板、更換頂板等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請詳細說明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8564564" y="6378575"/>
            <a:ext cx="2103437" cy="342900"/>
          </a:xfrm>
        </p:spPr>
        <p:txBody>
          <a:bodyPr/>
          <a:lstStyle/>
          <a:p>
            <a:fld id="{B6F15528-21DE-4FAA-801E-634DDDAF4B2B}" type="slidenum">
              <a:rPr lang="en-US" altLang="zh-TW" smtClean="0"/>
              <a:t>4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184400" y="533401"/>
            <a:ext cx="7340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壹、儲槽管理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CA82AAC-BDB5-4AA0-9C5E-50BEA7C7D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275709"/>
              </p:ext>
            </p:extLst>
          </p:nvPr>
        </p:nvGraphicFramePr>
        <p:xfrm>
          <a:off x="1555750" y="3429000"/>
          <a:ext cx="1002665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922">
                  <a:extLst>
                    <a:ext uri="{9D8B030D-6E8A-4147-A177-3AD203B41FA5}">
                      <a16:colId xmlns:a16="http://schemas.microsoft.com/office/drawing/2014/main" val="2525938798"/>
                    </a:ext>
                  </a:extLst>
                </a:gridCol>
                <a:gridCol w="1380922">
                  <a:extLst>
                    <a:ext uri="{9D8B030D-6E8A-4147-A177-3AD203B41FA5}">
                      <a16:colId xmlns:a16="http://schemas.microsoft.com/office/drawing/2014/main" val="733163953"/>
                    </a:ext>
                  </a:extLst>
                </a:gridCol>
                <a:gridCol w="1702206">
                  <a:extLst>
                    <a:ext uri="{9D8B030D-6E8A-4147-A177-3AD203B41FA5}">
                      <a16:colId xmlns:a16="http://schemas.microsoft.com/office/drawing/2014/main" val="194855692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690218140"/>
                    </a:ext>
                  </a:extLst>
                </a:gridCol>
                <a:gridCol w="2111609">
                  <a:extLst>
                    <a:ext uri="{9D8B030D-6E8A-4147-A177-3AD203B41FA5}">
                      <a16:colId xmlns:a16="http://schemas.microsoft.com/office/drawing/2014/main" val="1082327530"/>
                    </a:ext>
                  </a:extLst>
                </a:gridCol>
                <a:gridCol w="936391">
                  <a:extLst>
                    <a:ext uri="{9D8B030D-6E8A-4147-A177-3AD203B41FA5}">
                      <a16:colId xmlns:a16="http://schemas.microsoft.com/office/drawing/2014/main" val="326734790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儲槽編號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開放年度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底板壽命評估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最近一次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開放檢查結果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維修內容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058132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zh-TW" altLang="en-US" dirty="0"/>
                        <a:t>例：</a:t>
                      </a:r>
                      <a:r>
                        <a:rPr lang="en-US" altLang="zh-TW" dirty="0"/>
                        <a:t>T-01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</a:t>
                      </a:r>
                      <a:r>
                        <a:rPr lang="zh-TW" altLang="en-US" dirty="0"/>
                        <a:t>底板內容物側減薄</a:t>
                      </a:r>
                      <a:r>
                        <a:rPr lang="en-US" altLang="zh-TW" dirty="0"/>
                        <a:t>30%~50%</a:t>
                      </a:r>
                      <a:r>
                        <a:rPr lang="zh-TW" altLang="en-US" dirty="0"/>
                        <a:t>：</a:t>
                      </a:r>
                      <a:r>
                        <a:rPr lang="en-US" altLang="zh-TW" dirty="0"/>
                        <a:t>10</a:t>
                      </a:r>
                      <a:r>
                        <a:rPr lang="zh-TW" altLang="en-US" dirty="0"/>
                        <a:t>點</a:t>
                      </a: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1.&gt;40%</a:t>
                      </a:r>
                      <a:r>
                        <a:rPr lang="zh-TW" altLang="en-US" dirty="0"/>
                        <a:t>點銲</a:t>
                      </a:r>
                      <a:r>
                        <a:rPr lang="en-US" altLang="zh-TW" dirty="0"/>
                        <a:t>5</a:t>
                      </a:r>
                      <a:r>
                        <a:rPr lang="zh-TW" altLang="en-US" dirty="0"/>
                        <a:t>處、</a:t>
                      </a:r>
                      <a:r>
                        <a:rPr lang="en-US" altLang="zh-TW" dirty="0"/>
                        <a:t>30%~40%</a:t>
                      </a:r>
                      <a:r>
                        <a:rPr lang="zh-TW" altLang="en-US" dirty="0"/>
                        <a:t>塗層保護</a:t>
                      </a: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9925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2.</a:t>
                      </a:r>
                      <a:r>
                        <a:rPr lang="zh-TW" altLang="en-US" dirty="0"/>
                        <a:t>底板內容物側減薄</a:t>
                      </a:r>
                      <a:r>
                        <a:rPr lang="en-US" altLang="zh-TW" dirty="0"/>
                        <a:t>&gt;50%</a:t>
                      </a:r>
                      <a:r>
                        <a:rPr lang="zh-TW" altLang="en-US" dirty="0"/>
                        <a:t>：</a:t>
                      </a:r>
                      <a:r>
                        <a:rPr lang="en-US" altLang="zh-TW" dirty="0"/>
                        <a:t>2</a:t>
                      </a:r>
                      <a:r>
                        <a:rPr lang="zh-TW" altLang="en-US" dirty="0"/>
                        <a:t>點</a:t>
                      </a: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2.</a:t>
                      </a:r>
                      <a:r>
                        <a:rPr lang="zh-TW" altLang="en-US" dirty="0"/>
                        <a:t>貼板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308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15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貳、管線管理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2152650" y="1654195"/>
            <a:ext cx="8210550" cy="41597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絕緣法蘭檢測及維護情形</a:t>
            </a:r>
            <a:endParaRPr lang="en-US" altLang="zh-TW" sz="2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槽區地上管線維護管理情形</a:t>
            </a:r>
            <a:endParaRPr lang="en-US" altLang="zh-TW" sz="2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8884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01598"/>
            <a:ext cx="6973418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叁、控制室管理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轄區自訂之監控中心管理程序書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非總公司版本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管理方式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人數、輪班制、時數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班、人數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班等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現有即時監測系統、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各管線壓力計及流量計之校正週期、最近一次校正日期及校正結果（列表說明）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6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485222"/>
              </p:ext>
            </p:extLst>
          </p:nvPr>
        </p:nvGraphicFramePr>
        <p:xfrm>
          <a:off x="1559630" y="3097666"/>
          <a:ext cx="9679177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184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209533">
                  <a:extLst>
                    <a:ext uri="{9D8B030D-6E8A-4147-A177-3AD203B41FA5}">
                      <a16:colId xmlns:a16="http://schemas.microsoft.com/office/drawing/2014/main" val="67937300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54644929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411777520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04538238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174517286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498343091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199454943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2812315280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03430437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511489417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372748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洩漏監控系統</a:t>
                      </a:r>
                      <a:b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(LDS,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防盜油系統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,DCS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系統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...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自有端是否有設置壓力計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壓力計校正週期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自有端是否有設置流量計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流量計型式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質量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超音波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/…)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流量計最小精度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056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57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299475"/>
            <a:ext cx="6973418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叁、控制室管理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40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4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各管線流量及壓力警報設定上、下限值及依據（列表說明）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6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</a:t>
            </a:r>
            <a:r>
              <a:rPr lang="zh-TW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管線泵送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模式說明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進出節點、壓力流量計位置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及注意重點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流量及壓力警報發生頻率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與設定範圍之關係探討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有異常情形發生時，其操作流程圖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保壓測試程序、保壓之壓力值及異常警報設定值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無此作業則免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7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/>
        </p:nvGraphicFramePr>
        <p:xfrm>
          <a:off x="1828799" y="1981200"/>
          <a:ext cx="9144001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923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222175">
                  <a:extLst>
                    <a:ext uri="{9D8B030D-6E8A-4147-A177-3AD203B41FA5}">
                      <a16:colId xmlns:a16="http://schemas.microsoft.com/office/drawing/2014/main" val="1693509478"/>
                    </a:ext>
                  </a:extLst>
                </a:gridCol>
                <a:gridCol w="824638">
                  <a:extLst>
                    <a:ext uri="{9D8B030D-6E8A-4147-A177-3AD203B41FA5}">
                      <a16:colId xmlns:a16="http://schemas.microsoft.com/office/drawing/2014/main" val="772907599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1679811458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2575217548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2305703047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339844691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3085182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負責泵送或接收之控制室名稱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接收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泵送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路過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操作壓力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歷史操作壓力變動範圍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(%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或絕對值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起泵至穩態之時間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XX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分鐘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663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132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叁</a:t>
            </a:r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、控制室管理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189521" y="1600200"/>
            <a:ext cx="7239000" cy="3429000"/>
          </a:xfrm>
        </p:spPr>
        <p:txBody>
          <a:bodyPr/>
          <a:lstStyle/>
          <a:p>
            <a:pPr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操作人員授證與能力</a:t>
            </a:r>
            <a:endParaRPr lang="zh-TW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合格操作人員要求及授證程序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操作人員職責要求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操作人員對於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所操作的長途管線的路徑熟悉度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操作班與管線單位之互動機制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操作人員對系統之異常設定及應變之熟悉度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851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904999" y="521589"/>
            <a:ext cx="8763001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肆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320223"/>
              </p:ext>
            </p:extLst>
          </p:nvPr>
        </p:nvGraphicFramePr>
        <p:xfrm>
          <a:off x="2514601" y="1890088"/>
          <a:ext cx="7848600" cy="427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1463977310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一、虛驚事故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事日故期</a:t>
                      </a:r>
                      <a:endParaRPr lang="zh-TW" alt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二、作業事故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alt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9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2286001" y="1352731"/>
            <a:ext cx="8381999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/>
            </a:pP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kern="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(112</a:t>
            </a:r>
            <a:r>
              <a:rPr lang="zh-TW" altLang="en-US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迄今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故分析</a:t>
            </a:r>
            <a:r>
              <a:rPr lang="zh-TW" altLang="en-US" sz="2400" kern="0" spc="-2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改善情形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肆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152370"/>
              </p:ext>
            </p:extLst>
          </p:nvPr>
        </p:nvGraphicFramePr>
        <p:xfrm>
          <a:off x="2473908" y="2205259"/>
          <a:ext cx="7848600" cy="213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44">
                  <a:extLst>
                    <a:ext uri="{9D8B030D-6E8A-4147-A177-3AD203B41FA5}">
                      <a16:colId xmlns:a16="http://schemas.microsoft.com/office/drawing/2014/main" val="4181338354"/>
                    </a:ext>
                  </a:extLst>
                </a:gridCol>
                <a:gridCol w="1959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4456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</a:tblGrid>
              <a:tr h="418599">
                <a:tc grid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10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717090" y="1489908"/>
            <a:ext cx="93622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2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包含天然氣管線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事故列表</a:t>
            </a:r>
          </a:p>
        </p:txBody>
      </p:sp>
    </p:spTree>
    <p:extLst>
      <p:ext uri="{BB962C8B-B14F-4D97-AF65-F5344CB8AC3E}">
        <p14:creationId xmlns:p14="http://schemas.microsoft.com/office/powerpoint/2010/main" val="2916400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肆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813136"/>
              </p:ext>
            </p:extLst>
          </p:nvPr>
        </p:nvGraphicFramePr>
        <p:xfrm>
          <a:off x="1600200" y="2390077"/>
          <a:ext cx="9313790" cy="2510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9728116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1130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2731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一、作業事故</a:t>
                      </a:r>
                      <a:endParaRPr lang="zh-TW" altLang="en-US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平行展開作為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114.02.25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苗栗供氣中心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天然氣管線腐蝕洩漏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239172085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114.03.23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基隆供油中心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麥金路三號橋燃料油管洩漏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114.04.25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桃園煉油廠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新北市林口區桃園煉油廠油料管線洩漏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11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163343" y="1754498"/>
            <a:ext cx="986531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3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年度公司其他單位輸儲設施事故，</a:t>
            </a: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受查單位有平行展開者請列表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17DE9AE-BC62-47FA-BD3E-2A9201D339A7}"/>
              </a:ext>
            </a:extLst>
          </p:cNvPr>
          <p:cNvSpPr txBox="1"/>
          <p:nvPr/>
        </p:nvSpPr>
        <p:spPr>
          <a:xfrm>
            <a:off x="8407423" y="1224712"/>
            <a:ext cx="2621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※ 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交通事故請勿列入</a:t>
            </a:r>
          </a:p>
        </p:txBody>
      </p:sp>
    </p:spTree>
    <p:extLst>
      <p:ext uri="{BB962C8B-B14F-4D97-AF65-F5344CB8AC3E}">
        <p14:creationId xmlns:p14="http://schemas.microsoft.com/office/powerpoint/2010/main" val="4061000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098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伍、自主管理落實度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34381" y="1402314"/>
            <a:ext cx="7543800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儲槽</a:t>
            </a:r>
            <a:r>
              <a:rPr lang="zh-HK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pPr marL="904875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  <a:defRPr/>
            </a:pP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最近一次儲槽內部稽核執行結果說明</a:t>
            </a:r>
            <a:endParaRPr lang="en-US" altLang="zh-TW" sz="20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6406D6-50FB-4972-82D2-787CC90A0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37919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767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7436" y="609600"/>
            <a:ext cx="8003364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z="3600" spc="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陸</a:t>
            </a:r>
            <a:r>
              <a:rPr sz="3600" spc="10" dirty="0">
                <a:latin typeface="標楷體"/>
                <a:cs typeface="標楷體"/>
              </a:rPr>
              <a:t>、</a:t>
            </a:r>
            <a:r>
              <a:rPr lang="zh-TW" altLang="en-US" sz="3600" spc="5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sz="3600" dirty="0">
              <a:latin typeface="標楷體"/>
              <a:cs typeface="標楷體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355143"/>
              </p:ext>
            </p:extLst>
          </p:nvPr>
        </p:nvGraphicFramePr>
        <p:xfrm>
          <a:off x="990600" y="2667000"/>
          <a:ext cx="10210801" cy="2024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8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7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項目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分類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編號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查核結果及建議事項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事業單位回覆及辦理情形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改善期程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(</a:t>
                      </a: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請填日期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)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3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marL="71755" marR="71755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vert="eaVert" anchor="ctr"/>
                </a:tc>
                <a:tc>
                  <a:txBody>
                    <a:bodyPr/>
                    <a:lstStyle/>
                    <a:p>
                      <a:pPr algn="ctr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/>
                </a:tc>
                <a:tc>
                  <a:txBody>
                    <a:bodyPr/>
                    <a:lstStyle/>
                    <a:p>
                      <a:pPr algn="l" fontAlgn="base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355">
                <a:tc>
                  <a:txBody>
                    <a:bodyPr/>
                    <a:lstStyle/>
                    <a:p>
                      <a:pPr algn="ctr"/>
                      <a:endParaRPr 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marL="71755" marR="71755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vert="eaVert" anchor="ctr"/>
                </a:tc>
                <a:tc>
                  <a:txBody>
                    <a:bodyPr/>
                    <a:lstStyle/>
                    <a:p>
                      <a:pPr algn="ctr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/>
                </a:tc>
                <a:tc>
                  <a:txBody>
                    <a:bodyPr/>
                    <a:lstStyle/>
                    <a:p>
                      <a:pPr algn="l" fontAlgn="base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277926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13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1592203" y="1407467"/>
            <a:ext cx="9007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列出</a:t>
            </a:r>
            <a:r>
              <a:rPr lang="zh-TW" altLang="en-US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最近一次收到正式公文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尚未改善完成之查核建議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查核當天簡報不須報告本項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，資料供查核委員參照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委員可提問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3299</TotalTime>
  <Words>924</Words>
  <Application>Microsoft Office PowerPoint</Application>
  <PresentationFormat>寬螢幕</PresentationFormat>
  <Paragraphs>177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標楷體</vt:lpstr>
      <vt:lpstr>Arial</vt:lpstr>
      <vt:lpstr>Calibri</vt:lpstr>
      <vt:lpstr>Calibri Light</vt:lpstr>
      <vt:lpstr>Times New Roman</vt:lpstr>
      <vt:lpstr>Wingdings</vt:lpstr>
      <vt:lpstr>Office Theme</vt:lpstr>
      <vt:lpstr>Office 佈景主題</vt:lpstr>
      <vt:lpstr>115年度 石油業者儲油設施查核簡報 </vt:lpstr>
      <vt:lpstr>大綱</vt:lpstr>
      <vt:lpstr>PowerPoint 簡報</vt:lpstr>
      <vt:lpstr>PowerPoint 簡報</vt:lpstr>
      <vt:lpstr>貳、管線管理</vt:lpstr>
      <vt:lpstr>叁、控制室管理</vt:lpstr>
      <vt:lpstr>叁、控制室管理</vt:lpstr>
      <vt:lpstr>叁、控制室管理</vt:lpstr>
      <vt:lpstr>肆、事故學習</vt:lpstr>
      <vt:lpstr>肆、事故學習</vt:lpstr>
      <vt:lpstr>肆、事故學習</vt:lpstr>
      <vt:lpstr>伍、自主管理落實度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105年度天然氣生產進口事業查核</dc:title>
  <dc:creator>user</dc:creator>
  <cp:lastModifiedBy>林素玉</cp:lastModifiedBy>
  <cp:revision>178</cp:revision>
  <cp:lastPrinted>2023-02-13T06:04:05Z</cp:lastPrinted>
  <dcterms:created xsi:type="dcterms:W3CDTF">2017-03-31T11:36:46Z</dcterms:created>
  <dcterms:modified xsi:type="dcterms:W3CDTF">2026-02-10T13:45:00Z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2016-04-13T00:00:00Z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2017-03-31T00:00:00Z</vt:filetime>
  </property>
</Properties>
</file>